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97" r:id="rId2"/>
    <p:sldId id="298" r:id="rId3"/>
    <p:sldId id="302" r:id="rId4"/>
    <p:sldId id="303" r:id="rId5"/>
    <p:sldId id="306" r:id="rId6"/>
    <p:sldId id="305" r:id="rId7"/>
    <p:sldId id="304"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99"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99"/>
    <p:restoredTop sz="94724"/>
  </p:normalViewPr>
  <p:slideViewPr>
    <p:cSldViewPr snapToGrid="0">
      <p:cViewPr>
        <p:scale>
          <a:sx n="96" d="100"/>
          <a:sy n="96" d="100"/>
        </p:scale>
        <p:origin x="8976" y="273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7140E7-5873-6547-B51F-60BEA9C4ACF5}" type="datetimeFigureOut">
              <a:rPr lang="en-SE" smtClean="0"/>
              <a:t>1/22/26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DFAE3D-62DB-444E-A3C9-1BA06656061E}" type="slidenum">
              <a:rPr lang="en-SE" smtClean="0"/>
              <a:t>‹#›</a:t>
            </a:fld>
            <a:endParaRPr lang="en-SE"/>
          </a:p>
        </p:txBody>
      </p:sp>
    </p:spTree>
    <p:extLst>
      <p:ext uri="{BB962C8B-B14F-4D97-AF65-F5344CB8AC3E}">
        <p14:creationId xmlns:p14="http://schemas.microsoft.com/office/powerpoint/2010/main" val="233125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48111D-9F8F-4C7A-81E4-078CA61E28C8}" type="slidenum">
              <a:rPr lang="en-US" smtClean="0"/>
              <a:t>1</a:t>
            </a:fld>
            <a:endParaRPr lang="en-US"/>
          </a:p>
        </p:txBody>
      </p:sp>
    </p:spTree>
    <p:extLst>
      <p:ext uri="{BB962C8B-B14F-4D97-AF65-F5344CB8AC3E}">
        <p14:creationId xmlns:p14="http://schemas.microsoft.com/office/powerpoint/2010/main" val="3951243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DFAE3D-62DB-444E-A3C9-1BA06656061E}" type="slidenum">
              <a:rPr lang="en-SE" smtClean="0"/>
              <a:t>2</a:t>
            </a:fld>
            <a:endParaRPr lang="en-SE"/>
          </a:p>
        </p:txBody>
      </p:sp>
    </p:spTree>
    <p:extLst>
      <p:ext uri="{BB962C8B-B14F-4D97-AF65-F5344CB8AC3E}">
        <p14:creationId xmlns:p14="http://schemas.microsoft.com/office/powerpoint/2010/main" val="1926862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DFAE3D-62DB-444E-A3C9-1BA06656061E}" type="slidenum">
              <a:rPr lang="en-SE" smtClean="0"/>
              <a:t>4</a:t>
            </a:fld>
            <a:endParaRPr lang="en-SE"/>
          </a:p>
        </p:txBody>
      </p:sp>
    </p:spTree>
    <p:extLst>
      <p:ext uri="{BB962C8B-B14F-4D97-AF65-F5344CB8AC3E}">
        <p14:creationId xmlns:p14="http://schemas.microsoft.com/office/powerpoint/2010/main" val="105107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13C34-F190-AC1F-EBFA-D76D8E92D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665B7-4A6A-FEB8-A376-B9D708B5E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4A2D8-1B76-E198-F8C1-9586C5A63B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612E56-CD16-428F-EE8A-F5E9E4C39365}"/>
              </a:ext>
            </a:extLst>
          </p:cNvPr>
          <p:cNvSpPr>
            <a:spLocks noGrp="1"/>
          </p:cNvSpPr>
          <p:nvPr>
            <p:ph type="sldNum" sz="quarter" idx="5"/>
          </p:nvPr>
        </p:nvSpPr>
        <p:spPr/>
        <p:txBody>
          <a:bodyPr/>
          <a:lstStyle/>
          <a:p>
            <a:fld id="{FBDFAE3D-62DB-444E-A3C9-1BA06656061E}" type="slidenum">
              <a:rPr lang="en-SE" smtClean="0"/>
              <a:t>5</a:t>
            </a:fld>
            <a:endParaRPr lang="en-SE"/>
          </a:p>
        </p:txBody>
      </p:sp>
    </p:spTree>
    <p:extLst>
      <p:ext uri="{BB962C8B-B14F-4D97-AF65-F5344CB8AC3E}">
        <p14:creationId xmlns:p14="http://schemas.microsoft.com/office/powerpoint/2010/main" val="3059800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94758-9F83-E8B5-0E3D-452E412F6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13863-B643-F10B-E84E-417BB7BF8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ABD890-6860-5AFA-A9AA-C1CFDD80F6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9BC32F-31BC-6A30-9645-6B72E394E562}"/>
              </a:ext>
            </a:extLst>
          </p:cNvPr>
          <p:cNvSpPr>
            <a:spLocks noGrp="1"/>
          </p:cNvSpPr>
          <p:nvPr>
            <p:ph type="sldNum" sz="quarter" idx="5"/>
          </p:nvPr>
        </p:nvSpPr>
        <p:spPr/>
        <p:txBody>
          <a:bodyPr/>
          <a:lstStyle/>
          <a:p>
            <a:fld id="{FBDFAE3D-62DB-444E-A3C9-1BA06656061E}" type="slidenum">
              <a:rPr lang="en-SE" smtClean="0"/>
              <a:t>6</a:t>
            </a:fld>
            <a:endParaRPr lang="en-SE"/>
          </a:p>
        </p:txBody>
      </p:sp>
    </p:spTree>
    <p:extLst>
      <p:ext uri="{BB962C8B-B14F-4D97-AF65-F5344CB8AC3E}">
        <p14:creationId xmlns:p14="http://schemas.microsoft.com/office/powerpoint/2010/main" val="3351608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371FA-2DD9-E845-1643-C616FAF2D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CAB6F-1BCE-F30D-A913-70EDB69C3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D453A-B22F-3E19-3487-13000B942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941440-8338-1D87-BD71-E03C138C6818}"/>
              </a:ext>
            </a:extLst>
          </p:cNvPr>
          <p:cNvSpPr>
            <a:spLocks noGrp="1"/>
          </p:cNvSpPr>
          <p:nvPr>
            <p:ph type="sldNum" sz="quarter" idx="5"/>
          </p:nvPr>
        </p:nvSpPr>
        <p:spPr/>
        <p:txBody>
          <a:bodyPr/>
          <a:lstStyle/>
          <a:p>
            <a:fld id="{FBDFAE3D-62DB-444E-A3C9-1BA06656061E}" type="slidenum">
              <a:rPr lang="en-SE" smtClean="0"/>
              <a:t>7</a:t>
            </a:fld>
            <a:endParaRPr lang="en-SE"/>
          </a:p>
        </p:txBody>
      </p:sp>
    </p:spTree>
    <p:extLst>
      <p:ext uri="{BB962C8B-B14F-4D97-AF65-F5344CB8AC3E}">
        <p14:creationId xmlns:p14="http://schemas.microsoft.com/office/powerpoint/2010/main" val="755436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DFAE3D-62DB-444E-A3C9-1BA06656061E}" type="slidenum">
              <a:rPr lang="en-SE" smtClean="0"/>
              <a:t>12</a:t>
            </a:fld>
            <a:endParaRPr lang="en-SE"/>
          </a:p>
        </p:txBody>
      </p:sp>
    </p:spTree>
    <p:extLst>
      <p:ext uri="{BB962C8B-B14F-4D97-AF65-F5344CB8AC3E}">
        <p14:creationId xmlns:p14="http://schemas.microsoft.com/office/powerpoint/2010/main" val="3701975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In </a:t>
            </a:r>
            <a:r>
              <a:rPr lang="sv-SE" dirty="0" err="1"/>
              <a:t>this</a:t>
            </a:r>
            <a:r>
              <a:rPr lang="sv-SE" dirty="0"/>
              <a:t> dialog, the persona-</a:t>
            </a:r>
            <a:r>
              <a:rPr lang="sv-SE" dirty="0" err="1"/>
              <a:t>based</a:t>
            </a:r>
            <a:r>
              <a:rPr lang="sv-SE" dirty="0"/>
              <a:t> </a:t>
            </a:r>
            <a:r>
              <a:rPr lang="sv-SE" dirty="0" err="1"/>
              <a:t>debating</a:t>
            </a:r>
            <a:r>
              <a:rPr lang="sv-SE" dirty="0"/>
              <a:t> is not </a:t>
            </a:r>
            <a:r>
              <a:rPr lang="sv-SE" dirty="0" err="1"/>
              <a:t>using</a:t>
            </a:r>
            <a:r>
              <a:rPr lang="sv-SE" dirty="0"/>
              <a:t> </a:t>
            </a:r>
            <a:r>
              <a:rPr lang="sv-SE" dirty="0" err="1"/>
              <a:t>questions</a:t>
            </a:r>
            <a:r>
              <a:rPr lang="sv-SE" dirty="0"/>
              <a:t> </a:t>
            </a:r>
            <a:r>
              <a:rPr lang="sv-SE" dirty="0" err="1"/>
              <a:t>but</a:t>
            </a:r>
            <a:r>
              <a:rPr lang="sv-SE" dirty="0"/>
              <a:t> </a:t>
            </a:r>
            <a:r>
              <a:rPr lang="sv-SE" dirty="0" err="1"/>
              <a:t>statements</a:t>
            </a:r>
            <a:r>
              <a:rPr lang="sv-SE" dirty="0"/>
              <a:t>.</a:t>
            </a:r>
            <a:endParaRPr lang="en-US" dirty="0"/>
          </a:p>
        </p:txBody>
      </p:sp>
      <p:sp>
        <p:nvSpPr>
          <p:cNvPr id="4" name="Slide Number Placeholder 3"/>
          <p:cNvSpPr>
            <a:spLocks noGrp="1"/>
          </p:cNvSpPr>
          <p:nvPr>
            <p:ph type="sldNum" sz="quarter" idx="5"/>
          </p:nvPr>
        </p:nvSpPr>
        <p:spPr/>
        <p:txBody>
          <a:bodyPr/>
          <a:lstStyle/>
          <a:p>
            <a:fld id="{B348111D-9F8F-4C7A-81E4-078CA61E28C8}" type="slidenum">
              <a:rPr lang="en-US" smtClean="0"/>
              <a:t>14</a:t>
            </a:fld>
            <a:endParaRPr lang="en-US"/>
          </a:p>
        </p:txBody>
      </p:sp>
    </p:spTree>
    <p:extLst>
      <p:ext uri="{BB962C8B-B14F-4D97-AF65-F5344CB8AC3E}">
        <p14:creationId xmlns:p14="http://schemas.microsoft.com/office/powerpoint/2010/main" val="767106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p>
        </p:txBody>
      </p:sp>
      <p:sp>
        <p:nvSpPr>
          <p:cNvPr id="4" name="Slide Number Placeholder 3"/>
          <p:cNvSpPr>
            <a:spLocks noGrp="1"/>
          </p:cNvSpPr>
          <p:nvPr>
            <p:ph type="sldNum" sz="quarter" idx="5"/>
          </p:nvPr>
        </p:nvSpPr>
        <p:spPr/>
        <p:txBody>
          <a:bodyPr/>
          <a:lstStyle/>
          <a:p>
            <a:fld id="{B348111D-9F8F-4C7A-81E4-078CA61E28C8}" type="slidenum">
              <a:rPr lang="en-US" smtClean="0"/>
              <a:t>20</a:t>
            </a:fld>
            <a:endParaRPr lang="en-US"/>
          </a:p>
        </p:txBody>
      </p:sp>
    </p:spTree>
    <p:extLst>
      <p:ext uri="{BB962C8B-B14F-4D97-AF65-F5344CB8AC3E}">
        <p14:creationId xmlns:p14="http://schemas.microsoft.com/office/powerpoint/2010/main" val="3699465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Calibri" panose="020F0502020204030204" pitchFamily="34" charset="0"/>
                <a:cs typeface="Calibri" panose="020F0502020204030204" pitchFamily="34" charset="0"/>
              </a:rPr>
              <a:t>how would you test and validate multi-user race conditions that produce conflicting reservation/cancellation state?</a:t>
            </a:r>
          </a:p>
          <a:p>
            <a:r>
              <a:rPr lang="en-SE" dirty="0"/>
              <a:t>This one is only repeating the user’s question.</a:t>
            </a:r>
          </a:p>
        </p:txBody>
      </p:sp>
      <p:sp>
        <p:nvSpPr>
          <p:cNvPr id="4" name="Slide Number Placeholder 3"/>
          <p:cNvSpPr>
            <a:spLocks noGrp="1"/>
          </p:cNvSpPr>
          <p:nvPr>
            <p:ph type="sldNum" sz="quarter" idx="5"/>
          </p:nvPr>
        </p:nvSpPr>
        <p:spPr/>
        <p:txBody>
          <a:bodyPr/>
          <a:lstStyle/>
          <a:p>
            <a:fld id="{FBDFAE3D-62DB-444E-A3C9-1BA06656061E}" type="slidenum">
              <a:rPr lang="en-SE" smtClean="0"/>
              <a:t>23</a:t>
            </a:fld>
            <a:endParaRPr lang="en-SE"/>
          </a:p>
        </p:txBody>
      </p:sp>
    </p:spTree>
    <p:extLst>
      <p:ext uri="{BB962C8B-B14F-4D97-AF65-F5344CB8AC3E}">
        <p14:creationId xmlns:p14="http://schemas.microsoft.com/office/powerpoint/2010/main" val="1240263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question is vague.</a:t>
            </a:r>
          </a:p>
        </p:txBody>
      </p:sp>
      <p:sp>
        <p:nvSpPr>
          <p:cNvPr id="4" name="Slide Number Placeholder 3"/>
          <p:cNvSpPr>
            <a:spLocks noGrp="1"/>
          </p:cNvSpPr>
          <p:nvPr>
            <p:ph type="sldNum" sz="quarter" idx="5"/>
          </p:nvPr>
        </p:nvSpPr>
        <p:spPr/>
        <p:txBody>
          <a:bodyPr/>
          <a:lstStyle/>
          <a:p>
            <a:fld id="{FBDFAE3D-62DB-444E-A3C9-1BA06656061E}" type="slidenum">
              <a:rPr lang="en-SE" smtClean="0"/>
              <a:t>25</a:t>
            </a:fld>
            <a:endParaRPr lang="en-SE"/>
          </a:p>
        </p:txBody>
      </p:sp>
    </p:spTree>
    <p:extLst>
      <p:ext uri="{BB962C8B-B14F-4D97-AF65-F5344CB8AC3E}">
        <p14:creationId xmlns:p14="http://schemas.microsoft.com/office/powerpoint/2010/main" val="3786592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D2258-3FA8-7629-737F-135226002B7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65BE9959-5416-FB7E-2423-D42298044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753F674F-AD78-26D0-D186-8F140BBA6541}"/>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5" name="Footer Placeholder 4">
            <a:extLst>
              <a:ext uri="{FF2B5EF4-FFF2-40B4-BE49-F238E27FC236}">
                <a16:creationId xmlns:a16="http://schemas.microsoft.com/office/drawing/2014/main" id="{7F772998-A57C-076B-1F22-FB4DAE1D36F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9FE57BB9-2543-CEB0-F3BC-A877E9734449}"/>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2963153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CF56F-B928-6336-9B72-9B43E9648A0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D9387E34-8676-FD83-F267-04C838C2772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F4363ACC-197C-AD6F-787C-DADAA54F4E14}"/>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5" name="Footer Placeholder 4">
            <a:extLst>
              <a:ext uri="{FF2B5EF4-FFF2-40B4-BE49-F238E27FC236}">
                <a16:creationId xmlns:a16="http://schemas.microsoft.com/office/drawing/2014/main" id="{90D2D22F-5E34-5010-728C-52DF2CE347D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EB66616D-8DE0-2F3A-33E2-59A570BC6540}"/>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3791216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B174-CE7D-0827-0067-FFD5D3808A7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06808E25-6C5F-A7E3-BEDE-13EC4B0B0B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4B9FB7-8FBF-4406-E508-CF8D676ED453}"/>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5" name="Footer Placeholder 4">
            <a:extLst>
              <a:ext uri="{FF2B5EF4-FFF2-40B4-BE49-F238E27FC236}">
                <a16:creationId xmlns:a16="http://schemas.microsoft.com/office/drawing/2014/main" id="{4F6DEA3D-B864-A418-060F-33AD08483CE4}"/>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AE25861F-85E6-B11B-9D2E-076FD395BC1D}"/>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100122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1082-5497-5731-8B61-AD06B9309C39}"/>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4260D6BD-E225-08B6-49A5-DB63A54315C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459EA1D3-182F-2159-46D1-89A9DD8CACC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CD3285F7-1768-EB92-4282-63D358F96A99}"/>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6" name="Footer Placeholder 5">
            <a:extLst>
              <a:ext uri="{FF2B5EF4-FFF2-40B4-BE49-F238E27FC236}">
                <a16:creationId xmlns:a16="http://schemas.microsoft.com/office/drawing/2014/main" id="{27BB747F-2269-BA71-8FF1-C051F01AF080}"/>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AEC73B90-2522-7AF7-B874-ECB0A36CD5D8}"/>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273899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BBBDE-C816-EA8E-6677-560D3DBEE4F1}"/>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C4E201B7-B89A-A243-AE78-5498656C73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299E121-D8C6-E693-E61A-3C1883B7161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D16247A2-31D9-6517-F515-244FCB0F61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CB3E7E2-9A3C-D2ED-A545-FCFFD351DC9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4D4AC44A-33D0-A6A8-F304-0214DF6DDB42}"/>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8" name="Footer Placeholder 7">
            <a:extLst>
              <a:ext uri="{FF2B5EF4-FFF2-40B4-BE49-F238E27FC236}">
                <a16:creationId xmlns:a16="http://schemas.microsoft.com/office/drawing/2014/main" id="{5E2B80A6-0B1D-2A99-A63F-B40A4306A87C}"/>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3BE23ACA-F768-CCAF-7C3A-9FF8E5DD289A}"/>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1578362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7FB4-B35F-FDC1-2A8E-B438A411AFA7}"/>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4C062F9C-3B47-9D05-F2EF-0BBBED344548}"/>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4" name="Footer Placeholder 3">
            <a:extLst>
              <a:ext uri="{FF2B5EF4-FFF2-40B4-BE49-F238E27FC236}">
                <a16:creationId xmlns:a16="http://schemas.microsoft.com/office/drawing/2014/main" id="{365582B0-06BA-0A7D-FEB1-25ACFF2EC9CB}"/>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7F4A7593-B1D8-23CC-124E-9131895558BD}"/>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2061030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FAB799-5366-65A2-04D3-2556FE323C90}"/>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3" name="Footer Placeholder 2">
            <a:extLst>
              <a:ext uri="{FF2B5EF4-FFF2-40B4-BE49-F238E27FC236}">
                <a16:creationId xmlns:a16="http://schemas.microsoft.com/office/drawing/2014/main" id="{BE37B378-9075-4351-287C-1BB78040FD7E}"/>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D089EBEF-CEA6-6952-6855-0D0EA79211A0}"/>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927467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8B16-C7D6-8C5D-E966-B20CB4CA0A6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C53F22C0-7735-3456-4CD8-AA5A988EE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7EE58191-F505-4C99-DDD0-3A8F9ED97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05DC280-E0A5-1BC3-F091-CAD8B55F912A}"/>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6" name="Footer Placeholder 5">
            <a:extLst>
              <a:ext uri="{FF2B5EF4-FFF2-40B4-BE49-F238E27FC236}">
                <a16:creationId xmlns:a16="http://schemas.microsoft.com/office/drawing/2014/main" id="{4476A3D3-50F0-C3F3-F6B0-187E078C9BD3}"/>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930EF436-BEDD-21E4-4DAD-E6E8028B1E92}"/>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385113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C45DA-41AD-6D85-A21C-7C73B4A27B1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A1E3A392-CD19-4ABB-1650-8A517C702D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902F75B4-4F6F-9B0A-7FA7-CB3431CA4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0B0A4BF-E010-EA39-A76C-FC42F2894AA6}"/>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6" name="Footer Placeholder 5">
            <a:extLst>
              <a:ext uri="{FF2B5EF4-FFF2-40B4-BE49-F238E27FC236}">
                <a16:creationId xmlns:a16="http://schemas.microsoft.com/office/drawing/2014/main" id="{F94EA47B-19DF-F9A2-BF26-2E5B89A47F3B}"/>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FDEDD6DB-70E0-C4E2-FEE4-6BC7BF61BD9F}"/>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940821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9E370-D3A0-24F8-6CF3-0484639909CD}"/>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84439FEF-F542-6887-542E-0998CD93153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27F3C34C-97A3-E234-AD7D-446C6EA773F9}"/>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5" name="Footer Placeholder 4">
            <a:extLst>
              <a:ext uri="{FF2B5EF4-FFF2-40B4-BE49-F238E27FC236}">
                <a16:creationId xmlns:a16="http://schemas.microsoft.com/office/drawing/2014/main" id="{2213B017-36AE-A745-B856-E90FA58A4DAE}"/>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B3016796-99F5-72B5-848E-F775BA248F7C}"/>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3204812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4C7A33-AC3B-A979-76FB-A90ECAABD53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CD5DBB80-79A9-7D76-048F-F1A180DB5EB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B0088EFA-D29F-D5CE-40B2-85753C3F8965}"/>
              </a:ext>
            </a:extLst>
          </p:cNvPr>
          <p:cNvSpPr>
            <a:spLocks noGrp="1"/>
          </p:cNvSpPr>
          <p:nvPr>
            <p:ph type="dt" sz="half" idx="10"/>
          </p:nvPr>
        </p:nvSpPr>
        <p:spPr/>
        <p:txBody>
          <a:bodyPr/>
          <a:lstStyle/>
          <a:p>
            <a:fld id="{9E2746E4-C9E7-7049-A300-21F35C9C9F01}" type="datetimeFigureOut">
              <a:rPr lang="en-SE" smtClean="0"/>
              <a:t>1/22/26</a:t>
            </a:fld>
            <a:endParaRPr lang="en-SE"/>
          </a:p>
        </p:txBody>
      </p:sp>
      <p:sp>
        <p:nvSpPr>
          <p:cNvPr id="5" name="Footer Placeholder 4">
            <a:extLst>
              <a:ext uri="{FF2B5EF4-FFF2-40B4-BE49-F238E27FC236}">
                <a16:creationId xmlns:a16="http://schemas.microsoft.com/office/drawing/2014/main" id="{41307C7E-5999-278A-433B-1CC93180B9ED}"/>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AB9111BE-7076-B19B-94F3-6759EEDE19B5}"/>
              </a:ext>
            </a:extLst>
          </p:cNvPr>
          <p:cNvSpPr>
            <a:spLocks noGrp="1"/>
          </p:cNvSpPr>
          <p:nvPr>
            <p:ph type="sldNum" sz="quarter" idx="12"/>
          </p:nvPr>
        </p:nvSpPr>
        <p:spPr/>
        <p:txBody>
          <a:bodyPr/>
          <a:lstStyle/>
          <a:p>
            <a:fld id="{CFBCD6DC-0542-CD4D-8C99-ACD37748EEF7}" type="slidenum">
              <a:rPr lang="en-SE" smtClean="0"/>
              <a:t>‹#›</a:t>
            </a:fld>
            <a:endParaRPr lang="en-SE"/>
          </a:p>
        </p:txBody>
      </p:sp>
    </p:spTree>
    <p:extLst>
      <p:ext uri="{BB962C8B-B14F-4D97-AF65-F5344CB8AC3E}">
        <p14:creationId xmlns:p14="http://schemas.microsoft.com/office/powerpoint/2010/main" val="585928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E2F59A-7046-4D62-9C7C-83816097B4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D43CFB91-1EAE-4F87-CC7D-0F835A2CF9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CE989297-5A2F-C4A5-5289-27F19BED20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2746E4-C9E7-7049-A300-21F35C9C9F01}" type="datetimeFigureOut">
              <a:rPr lang="en-SE" smtClean="0"/>
              <a:t>1/22/26</a:t>
            </a:fld>
            <a:endParaRPr lang="en-SE"/>
          </a:p>
        </p:txBody>
      </p:sp>
      <p:sp>
        <p:nvSpPr>
          <p:cNvPr id="5" name="Footer Placeholder 4">
            <a:extLst>
              <a:ext uri="{FF2B5EF4-FFF2-40B4-BE49-F238E27FC236}">
                <a16:creationId xmlns:a16="http://schemas.microsoft.com/office/drawing/2014/main" id="{51550828-97C4-422A-D70E-4055922FDE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625C1376-D4F5-CCAB-705D-352B3FD602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BCD6DC-0542-CD4D-8C99-ACD37748EEF7}" type="slidenum">
              <a:rPr lang="en-SE" smtClean="0"/>
              <a:t>‹#›</a:t>
            </a:fld>
            <a:endParaRPr lang="en-SE"/>
          </a:p>
        </p:txBody>
      </p:sp>
    </p:spTree>
    <p:extLst>
      <p:ext uri="{BB962C8B-B14F-4D97-AF65-F5344CB8AC3E}">
        <p14:creationId xmlns:p14="http://schemas.microsoft.com/office/powerpoint/2010/main" val="2924380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gongzhzh/wicked-demo/blob/main/experiment/cycle-1/treat-group/AM-assumption-buster-1"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1BE9F7-AE2A-867A-9863-408B84CDD5B8}"/>
              </a:ext>
            </a:extLst>
          </p:cNvPr>
          <p:cNvGraphicFramePr>
            <a:graphicFrameLocks noGrp="1"/>
          </p:cNvGraphicFramePr>
          <p:nvPr>
            <p:extLst>
              <p:ext uri="{D42A27DB-BD31-4B8C-83A1-F6EECF244321}">
                <p14:modId xmlns:p14="http://schemas.microsoft.com/office/powerpoint/2010/main" val="1511114146"/>
              </p:ext>
            </p:extLst>
          </p:nvPr>
        </p:nvGraphicFramePr>
        <p:xfrm>
          <a:off x="2032000" y="719666"/>
          <a:ext cx="8127999" cy="1940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87912248"/>
                    </a:ext>
                  </a:extLst>
                </a:gridCol>
                <a:gridCol w="2709333">
                  <a:extLst>
                    <a:ext uri="{9D8B030D-6E8A-4147-A177-3AD203B41FA5}">
                      <a16:colId xmlns:a16="http://schemas.microsoft.com/office/drawing/2014/main" val="1990931609"/>
                    </a:ext>
                  </a:extLst>
                </a:gridCol>
                <a:gridCol w="2709333">
                  <a:extLst>
                    <a:ext uri="{9D8B030D-6E8A-4147-A177-3AD203B41FA5}">
                      <a16:colId xmlns:a16="http://schemas.microsoft.com/office/drawing/2014/main" val="719544646"/>
                    </a:ext>
                  </a:extLst>
                </a:gridCol>
              </a:tblGrid>
              <a:tr h="370840">
                <a:tc>
                  <a:txBody>
                    <a:bodyPr/>
                    <a:lstStyle/>
                    <a:p>
                      <a:r>
                        <a:rPr lang="en-US" sz="1200" dirty="0"/>
                        <a:t>Metric</a:t>
                      </a:r>
                    </a:p>
                  </a:txBody>
                  <a:tcPr/>
                </a:tc>
                <a:tc>
                  <a:txBody>
                    <a:bodyPr/>
                    <a:lstStyle/>
                    <a:p>
                      <a:r>
                        <a:rPr lang="en-US" sz="1200" dirty="0"/>
                        <a:t>Count</a:t>
                      </a:r>
                    </a:p>
                  </a:txBody>
                  <a:tcPr/>
                </a:tc>
                <a:tc>
                  <a:txBody>
                    <a:bodyPr/>
                    <a:lstStyle/>
                    <a:p>
                      <a:r>
                        <a:rPr lang="en-US" sz="1200" dirty="0"/>
                        <a:t>Proportion</a:t>
                      </a:r>
                    </a:p>
                  </a:txBody>
                  <a:tcPr/>
                </a:tc>
                <a:extLst>
                  <a:ext uri="{0D108BD9-81ED-4DB2-BD59-A6C34878D82A}">
                    <a16:rowId xmlns:a16="http://schemas.microsoft.com/office/drawing/2014/main" val="1058528317"/>
                  </a:ext>
                </a:extLst>
              </a:tr>
              <a:tr h="370840">
                <a:tc>
                  <a:txBody>
                    <a:bodyPr/>
                    <a:lstStyle/>
                    <a:p>
                      <a:r>
                        <a:rPr lang="en-US" sz="1200" dirty="0"/>
                        <a:t>Affirmation</a:t>
                      </a:r>
                    </a:p>
                  </a:txBody>
                  <a:tcPr/>
                </a:tc>
                <a:tc>
                  <a:txBody>
                    <a:bodyPr/>
                    <a:lstStyle/>
                    <a:p>
                      <a:r>
                        <a:rPr lang="sv-SE" sz="1200" dirty="0"/>
                        <a:t>1</a:t>
                      </a:r>
                      <a:r>
                        <a:rPr lang="en-US" sz="1200" dirty="0"/>
                        <a:t>2</a:t>
                      </a:r>
                    </a:p>
                  </a:txBody>
                  <a:tcPr/>
                </a:tc>
                <a:tc>
                  <a:txBody>
                    <a:bodyPr/>
                    <a:lstStyle/>
                    <a:p>
                      <a:r>
                        <a:rPr lang="sv-SE" sz="1200" dirty="0"/>
                        <a:t>100 %</a:t>
                      </a:r>
                      <a:endParaRPr lang="en-US" sz="1200" dirty="0"/>
                    </a:p>
                  </a:txBody>
                  <a:tcPr/>
                </a:tc>
                <a:extLst>
                  <a:ext uri="{0D108BD9-81ED-4DB2-BD59-A6C34878D82A}">
                    <a16:rowId xmlns:a16="http://schemas.microsoft.com/office/drawing/2014/main" val="2670015253"/>
                  </a:ext>
                </a:extLst>
              </a:tr>
              <a:tr h="370840">
                <a:tc>
                  <a:txBody>
                    <a:bodyPr/>
                    <a:lstStyle/>
                    <a:p>
                      <a:r>
                        <a:rPr lang="en-US" sz="1200" dirty="0"/>
                        <a:t>Exploration-driving Question</a:t>
                      </a:r>
                    </a:p>
                  </a:txBody>
                  <a:tcPr/>
                </a:tc>
                <a:tc>
                  <a:txBody>
                    <a:bodyPr/>
                    <a:lstStyle/>
                    <a:p>
                      <a:r>
                        <a:rPr lang="en-US" sz="1200" dirty="0"/>
                        <a:t>9</a:t>
                      </a:r>
                    </a:p>
                  </a:txBody>
                  <a:tcPr/>
                </a:tc>
                <a:tc>
                  <a:txBody>
                    <a:bodyPr/>
                    <a:lstStyle/>
                    <a:p>
                      <a:r>
                        <a:rPr lang="en-US" sz="1200" dirty="0"/>
                        <a:t>75%</a:t>
                      </a:r>
                    </a:p>
                  </a:txBody>
                  <a:tcPr/>
                </a:tc>
                <a:extLst>
                  <a:ext uri="{0D108BD9-81ED-4DB2-BD59-A6C34878D82A}">
                    <a16:rowId xmlns:a16="http://schemas.microsoft.com/office/drawing/2014/main" val="4236747392"/>
                  </a:ext>
                </a:extLst>
              </a:tr>
              <a:tr h="370840">
                <a:tc>
                  <a:txBody>
                    <a:bodyPr/>
                    <a:lstStyle/>
                    <a:p>
                      <a:r>
                        <a:rPr lang="en-US" sz="1200" dirty="0"/>
                        <a:t>Cross-domain Association</a:t>
                      </a:r>
                    </a:p>
                  </a:txBody>
                  <a:tcPr/>
                </a:tc>
                <a:tc>
                  <a:txBody>
                    <a:bodyPr/>
                    <a:lstStyle/>
                    <a:p>
                      <a:r>
                        <a:rPr lang="en-US" sz="1200" dirty="0"/>
                        <a:t>12</a:t>
                      </a:r>
                    </a:p>
                  </a:txBody>
                  <a:tcPr/>
                </a:tc>
                <a:tc>
                  <a:txBody>
                    <a:bodyPr/>
                    <a:lstStyle/>
                    <a:p>
                      <a:r>
                        <a:rPr lang="sv-SE" sz="1200" dirty="0"/>
                        <a:t>100 %</a:t>
                      </a:r>
                      <a:endParaRPr lang="en-US" sz="1200" dirty="0"/>
                    </a:p>
                  </a:txBody>
                  <a:tcPr/>
                </a:tc>
                <a:extLst>
                  <a:ext uri="{0D108BD9-81ED-4DB2-BD59-A6C34878D82A}">
                    <a16:rowId xmlns:a16="http://schemas.microsoft.com/office/drawing/2014/main" val="472076009"/>
                  </a:ext>
                </a:extLst>
              </a:tr>
              <a:tr h="370840">
                <a:tc>
                  <a:txBody>
                    <a:bodyPr/>
                    <a:lstStyle/>
                    <a:p>
                      <a:r>
                        <a:rPr lang="en-US" sz="1200" dirty="0"/>
                        <a:t>Hint-style Guidance (based on Association)</a:t>
                      </a:r>
                    </a:p>
                  </a:txBody>
                  <a:tcPr/>
                </a:tc>
                <a:tc>
                  <a:txBody>
                    <a:bodyPr/>
                    <a:lstStyle/>
                    <a:p>
                      <a:r>
                        <a:rPr lang="sv-SE" sz="1200" dirty="0"/>
                        <a:t>12</a:t>
                      </a:r>
                      <a:endParaRPr lang="en-US" sz="1200" dirty="0"/>
                    </a:p>
                  </a:txBody>
                  <a:tcPr/>
                </a:tc>
                <a:tc>
                  <a:txBody>
                    <a:bodyPr/>
                    <a:lstStyle/>
                    <a:p>
                      <a:r>
                        <a:rPr lang="sv-SE" sz="1200" dirty="0"/>
                        <a:t>100 %</a:t>
                      </a:r>
                      <a:endParaRPr lang="en-US" sz="1200" dirty="0"/>
                    </a:p>
                  </a:txBody>
                  <a:tcPr/>
                </a:tc>
                <a:extLst>
                  <a:ext uri="{0D108BD9-81ED-4DB2-BD59-A6C34878D82A}">
                    <a16:rowId xmlns:a16="http://schemas.microsoft.com/office/drawing/2014/main" val="2937253610"/>
                  </a:ext>
                </a:extLst>
              </a:tr>
            </a:tbl>
          </a:graphicData>
        </a:graphic>
      </p:graphicFrame>
      <p:sp>
        <p:nvSpPr>
          <p:cNvPr id="6" name="TextBox 5">
            <a:extLst>
              <a:ext uri="{FF2B5EF4-FFF2-40B4-BE49-F238E27FC236}">
                <a16:creationId xmlns:a16="http://schemas.microsoft.com/office/drawing/2014/main" id="{0107DE22-A284-520B-EE79-D3E5FC6F5DA0}"/>
              </a:ext>
            </a:extLst>
          </p:cNvPr>
          <p:cNvSpPr txBox="1"/>
          <p:nvPr/>
        </p:nvSpPr>
        <p:spPr>
          <a:xfrm>
            <a:off x="1936304" y="350334"/>
            <a:ext cx="6097772" cy="369332"/>
          </a:xfrm>
          <a:prstGeom prst="rect">
            <a:avLst/>
          </a:prstGeom>
          <a:noFill/>
        </p:spPr>
        <p:txBody>
          <a:bodyPr wrap="square">
            <a:spAutoFit/>
          </a:bodyPr>
          <a:lstStyle/>
          <a:p>
            <a:r>
              <a:rPr lang="en-US" dirty="0" err="1"/>
              <a:t>Brainstormer（N</a:t>
            </a:r>
            <a:r>
              <a:rPr lang="en-US" dirty="0"/>
              <a:t>=12）</a:t>
            </a:r>
          </a:p>
        </p:txBody>
      </p:sp>
      <p:graphicFrame>
        <p:nvGraphicFramePr>
          <p:cNvPr id="7" name="Table 6">
            <a:extLst>
              <a:ext uri="{FF2B5EF4-FFF2-40B4-BE49-F238E27FC236}">
                <a16:creationId xmlns:a16="http://schemas.microsoft.com/office/drawing/2014/main" id="{8C99D99F-E094-9185-8180-49170740729D}"/>
              </a:ext>
            </a:extLst>
          </p:cNvPr>
          <p:cNvGraphicFramePr>
            <a:graphicFrameLocks noGrp="1"/>
          </p:cNvGraphicFramePr>
          <p:nvPr>
            <p:extLst>
              <p:ext uri="{D42A27DB-BD31-4B8C-83A1-F6EECF244321}">
                <p14:modId xmlns:p14="http://schemas.microsoft.com/office/powerpoint/2010/main" val="2049075265"/>
              </p:ext>
            </p:extLst>
          </p:nvPr>
        </p:nvGraphicFramePr>
        <p:xfrm>
          <a:off x="2032000" y="3115536"/>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87912248"/>
                    </a:ext>
                  </a:extLst>
                </a:gridCol>
                <a:gridCol w="2709333">
                  <a:extLst>
                    <a:ext uri="{9D8B030D-6E8A-4147-A177-3AD203B41FA5}">
                      <a16:colId xmlns:a16="http://schemas.microsoft.com/office/drawing/2014/main" val="1990931609"/>
                    </a:ext>
                  </a:extLst>
                </a:gridCol>
                <a:gridCol w="2709333">
                  <a:extLst>
                    <a:ext uri="{9D8B030D-6E8A-4147-A177-3AD203B41FA5}">
                      <a16:colId xmlns:a16="http://schemas.microsoft.com/office/drawing/2014/main" val="719544646"/>
                    </a:ext>
                  </a:extLst>
                </a:gridCol>
              </a:tblGrid>
              <a:tr h="370840">
                <a:tc>
                  <a:txBody>
                    <a:bodyPr/>
                    <a:lstStyle/>
                    <a:p>
                      <a:r>
                        <a:rPr lang="en-US" sz="1200" dirty="0"/>
                        <a:t>Metric</a:t>
                      </a:r>
                    </a:p>
                  </a:txBody>
                  <a:tcPr/>
                </a:tc>
                <a:tc>
                  <a:txBody>
                    <a:bodyPr/>
                    <a:lstStyle/>
                    <a:p>
                      <a:r>
                        <a:rPr lang="en-US" sz="1200" dirty="0"/>
                        <a:t>Count</a:t>
                      </a:r>
                    </a:p>
                  </a:txBody>
                  <a:tcPr/>
                </a:tc>
                <a:tc>
                  <a:txBody>
                    <a:bodyPr/>
                    <a:lstStyle/>
                    <a:p>
                      <a:r>
                        <a:rPr lang="en-US" sz="1200" dirty="0"/>
                        <a:t>Proportion</a:t>
                      </a:r>
                    </a:p>
                  </a:txBody>
                  <a:tcPr/>
                </a:tc>
                <a:extLst>
                  <a:ext uri="{0D108BD9-81ED-4DB2-BD59-A6C34878D82A}">
                    <a16:rowId xmlns:a16="http://schemas.microsoft.com/office/drawing/2014/main" val="1058528317"/>
                  </a:ext>
                </a:extLst>
              </a:tr>
              <a:tr h="370840">
                <a:tc>
                  <a:txBody>
                    <a:bodyPr/>
                    <a:lstStyle/>
                    <a:p>
                      <a:r>
                        <a:rPr lang="en-US" sz="1200" dirty="0"/>
                        <a:t>Adversarial Feedback</a:t>
                      </a:r>
                    </a:p>
                  </a:txBody>
                  <a:tcPr/>
                </a:tc>
                <a:tc>
                  <a:txBody>
                    <a:bodyPr/>
                    <a:lstStyle/>
                    <a:p>
                      <a:r>
                        <a:rPr lang="sv-SE" sz="1200" dirty="0"/>
                        <a:t>11</a:t>
                      </a:r>
                      <a:endParaRPr lang="en-US" sz="1200" dirty="0"/>
                    </a:p>
                  </a:txBody>
                  <a:tcPr/>
                </a:tc>
                <a:tc>
                  <a:txBody>
                    <a:bodyPr/>
                    <a:lstStyle/>
                    <a:p>
                      <a:r>
                        <a:rPr lang="en-US" sz="1200" dirty="0"/>
                        <a:t>91.67 %</a:t>
                      </a:r>
                    </a:p>
                  </a:txBody>
                  <a:tcPr/>
                </a:tc>
                <a:extLst>
                  <a:ext uri="{0D108BD9-81ED-4DB2-BD59-A6C34878D82A}">
                    <a16:rowId xmlns:a16="http://schemas.microsoft.com/office/drawing/2014/main" val="2670015253"/>
                  </a:ext>
                </a:extLst>
              </a:tr>
              <a:tr h="370840">
                <a:tc>
                  <a:txBody>
                    <a:bodyPr/>
                    <a:lstStyle/>
                    <a:p>
                      <a:r>
                        <a:rPr lang="en-US" sz="1200" dirty="0"/>
                        <a:t>Divergent Suggestion</a:t>
                      </a:r>
                    </a:p>
                  </a:txBody>
                  <a:tcPr/>
                </a:tc>
                <a:tc>
                  <a:txBody>
                    <a:bodyPr/>
                    <a:lstStyle/>
                    <a:p>
                      <a:r>
                        <a:rPr lang="en-US" sz="1200" dirty="0"/>
                        <a:t>12</a:t>
                      </a:r>
                    </a:p>
                  </a:txBody>
                  <a:tcPr/>
                </a:tc>
                <a:tc>
                  <a:txBody>
                    <a:bodyPr/>
                    <a:lstStyle/>
                    <a:p>
                      <a:r>
                        <a:rPr lang="en-US" sz="1200" dirty="0"/>
                        <a:t>100 %</a:t>
                      </a:r>
                    </a:p>
                  </a:txBody>
                  <a:tcPr/>
                </a:tc>
                <a:extLst>
                  <a:ext uri="{0D108BD9-81ED-4DB2-BD59-A6C34878D82A}">
                    <a16:rowId xmlns:a16="http://schemas.microsoft.com/office/drawing/2014/main" val="472076009"/>
                  </a:ext>
                </a:extLst>
              </a:tr>
            </a:tbl>
          </a:graphicData>
        </a:graphic>
      </p:graphicFrame>
      <p:sp>
        <p:nvSpPr>
          <p:cNvPr id="8" name="TextBox 7">
            <a:extLst>
              <a:ext uri="{FF2B5EF4-FFF2-40B4-BE49-F238E27FC236}">
                <a16:creationId xmlns:a16="http://schemas.microsoft.com/office/drawing/2014/main" id="{D3BCEFDA-9DDB-7274-AEEE-5CF26EEC9EDD}"/>
              </a:ext>
            </a:extLst>
          </p:cNvPr>
          <p:cNvSpPr txBox="1"/>
          <p:nvPr/>
        </p:nvSpPr>
        <p:spPr>
          <a:xfrm>
            <a:off x="1936304" y="2746204"/>
            <a:ext cx="6097772" cy="369332"/>
          </a:xfrm>
          <a:prstGeom prst="rect">
            <a:avLst/>
          </a:prstGeom>
          <a:noFill/>
        </p:spPr>
        <p:txBody>
          <a:bodyPr wrap="square">
            <a:spAutoFit/>
          </a:bodyPr>
          <a:lstStyle/>
          <a:p>
            <a:r>
              <a:rPr lang="en-US" dirty="0"/>
              <a:t>Assumption </a:t>
            </a:r>
            <a:r>
              <a:rPr lang="en-US" dirty="0" err="1"/>
              <a:t>Buster（N</a:t>
            </a:r>
            <a:r>
              <a:rPr lang="en-US" dirty="0"/>
              <a:t>=12）</a:t>
            </a:r>
          </a:p>
        </p:txBody>
      </p:sp>
      <p:sp>
        <p:nvSpPr>
          <p:cNvPr id="3" name="TextBox 2">
            <a:extLst>
              <a:ext uri="{FF2B5EF4-FFF2-40B4-BE49-F238E27FC236}">
                <a16:creationId xmlns:a16="http://schemas.microsoft.com/office/drawing/2014/main" id="{47264C0F-2870-7DA3-8554-FBE4756FDE5A}"/>
              </a:ext>
            </a:extLst>
          </p:cNvPr>
          <p:cNvSpPr txBox="1"/>
          <p:nvPr/>
        </p:nvSpPr>
        <p:spPr>
          <a:xfrm>
            <a:off x="1939600" y="5142074"/>
            <a:ext cx="8987480" cy="369332"/>
          </a:xfrm>
          <a:prstGeom prst="rect">
            <a:avLst/>
          </a:prstGeom>
          <a:noFill/>
        </p:spPr>
        <p:txBody>
          <a:bodyPr wrap="square">
            <a:spAutoFit/>
          </a:bodyPr>
          <a:lstStyle/>
          <a:p>
            <a:r>
              <a:rPr lang="en-US" dirty="0"/>
              <a:t>https://github.com/gongzhzh/wicked-demo/tree/main/experiment/cycle-1</a:t>
            </a:r>
          </a:p>
        </p:txBody>
      </p:sp>
    </p:spTree>
    <p:extLst>
      <p:ext uri="{BB962C8B-B14F-4D97-AF65-F5344CB8AC3E}">
        <p14:creationId xmlns:p14="http://schemas.microsoft.com/office/powerpoint/2010/main" val="422225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76EFFCA-AFF8-C395-4522-484D37A32DF6}"/>
              </a:ext>
            </a:extLst>
          </p:cNvPr>
          <p:cNvGraphicFramePr>
            <a:graphicFrameLocks noGrp="1"/>
          </p:cNvGraphicFramePr>
          <p:nvPr>
            <p:extLst>
              <p:ext uri="{D42A27DB-BD31-4B8C-83A1-F6EECF244321}">
                <p14:modId xmlns:p14="http://schemas.microsoft.com/office/powerpoint/2010/main" val="3632313007"/>
              </p:ext>
            </p:extLst>
          </p:nvPr>
        </p:nvGraphicFramePr>
        <p:xfrm>
          <a:off x="994179" y="0"/>
          <a:ext cx="8280000" cy="6949440"/>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1955368015"/>
                    </a:ext>
                  </a:extLst>
                </a:gridCol>
                <a:gridCol w="828000">
                  <a:extLst>
                    <a:ext uri="{9D8B030D-6E8A-4147-A177-3AD203B41FA5}">
                      <a16:colId xmlns:a16="http://schemas.microsoft.com/office/drawing/2014/main" val="2694435271"/>
                    </a:ext>
                  </a:extLst>
                </a:gridCol>
                <a:gridCol w="828000">
                  <a:extLst>
                    <a:ext uri="{9D8B030D-6E8A-4147-A177-3AD203B41FA5}">
                      <a16:colId xmlns:a16="http://schemas.microsoft.com/office/drawing/2014/main" val="1735599655"/>
                    </a:ext>
                  </a:extLst>
                </a:gridCol>
                <a:gridCol w="828000">
                  <a:extLst>
                    <a:ext uri="{9D8B030D-6E8A-4147-A177-3AD203B41FA5}">
                      <a16:colId xmlns:a16="http://schemas.microsoft.com/office/drawing/2014/main" val="2544980991"/>
                    </a:ext>
                  </a:extLst>
                </a:gridCol>
                <a:gridCol w="828000">
                  <a:extLst>
                    <a:ext uri="{9D8B030D-6E8A-4147-A177-3AD203B41FA5}">
                      <a16:colId xmlns:a16="http://schemas.microsoft.com/office/drawing/2014/main" val="1282495464"/>
                    </a:ext>
                  </a:extLst>
                </a:gridCol>
                <a:gridCol w="828000">
                  <a:extLst>
                    <a:ext uri="{9D8B030D-6E8A-4147-A177-3AD203B41FA5}">
                      <a16:colId xmlns:a16="http://schemas.microsoft.com/office/drawing/2014/main" val="2287001404"/>
                    </a:ext>
                  </a:extLst>
                </a:gridCol>
                <a:gridCol w="828000">
                  <a:extLst>
                    <a:ext uri="{9D8B030D-6E8A-4147-A177-3AD203B41FA5}">
                      <a16:colId xmlns:a16="http://schemas.microsoft.com/office/drawing/2014/main" val="2881042097"/>
                    </a:ext>
                  </a:extLst>
                </a:gridCol>
                <a:gridCol w="828000">
                  <a:extLst>
                    <a:ext uri="{9D8B030D-6E8A-4147-A177-3AD203B41FA5}">
                      <a16:colId xmlns:a16="http://schemas.microsoft.com/office/drawing/2014/main" val="4269819260"/>
                    </a:ext>
                  </a:extLst>
                </a:gridCol>
                <a:gridCol w="828000">
                  <a:extLst>
                    <a:ext uri="{9D8B030D-6E8A-4147-A177-3AD203B41FA5}">
                      <a16:colId xmlns:a16="http://schemas.microsoft.com/office/drawing/2014/main" val="3011694275"/>
                    </a:ext>
                  </a:extLst>
                </a:gridCol>
                <a:gridCol w="828000">
                  <a:extLst>
                    <a:ext uri="{9D8B030D-6E8A-4147-A177-3AD203B41FA5}">
                      <a16:colId xmlns:a16="http://schemas.microsoft.com/office/drawing/2014/main" val="4261539017"/>
                    </a:ext>
                  </a:extLst>
                </a:gridCol>
              </a:tblGrid>
              <a:tr h="180000">
                <a:tc>
                  <a:txBody>
                    <a:bodyPr/>
                    <a:lstStyle/>
                    <a:p>
                      <a:r>
                        <a:rPr lang="en-US" altLang="zh-CN" sz="600" dirty="0"/>
                        <a:t>ID</a:t>
                      </a:r>
                      <a:endParaRPr lang="en-US" sz="600" dirty="0"/>
                    </a:p>
                  </a:txBody>
                  <a:tcPr anchor="ctr"/>
                </a:tc>
                <a:tc>
                  <a:txBody>
                    <a:bodyPr/>
                    <a:lstStyle/>
                    <a:p>
                      <a:r>
                        <a:rPr lang="en-US" altLang="zh-CN" sz="600" dirty="0"/>
                        <a:t>User Purpose</a:t>
                      </a:r>
                      <a:endParaRPr lang="en-US" sz="600" dirty="0"/>
                    </a:p>
                  </a:txBody>
                  <a:tcPr anchor="ctr"/>
                </a:tc>
                <a:tc>
                  <a:txBody>
                    <a:bodyPr/>
                    <a:lstStyle/>
                    <a:p>
                      <a:r>
                        <a:rPr lang="en-US" altLang="zh-CN" sz="600" dirty="0"/>
                        <a:t>Assistant Feature</a:t>
                      </a:r>
                      <a:endParaRPr lang="en-US" sz="600" dirty="0"/>
                    </a:p>
                  </a:txBody>
                  <a:tcPr anchor="ctr"/>
                </a:tc>
                <a:tc>
                  <a:txBody>
                    <a:bodyPr/>
                    <a:lstStyle/>
                    <a:p>
                      <a:r>
                        <a:rPr lang="en-US" altLang="zh-CN" sz="600" dirty="0"/>
                        <a:t>Query Topic</a:t>
                      </a:r>
                      <a:endParaRPr lang="en-US" sz="600" dirty="0"/>
                    </a:p>
                  </a:txBody>
                  <a:tcPr anchor="ctr"/>
                </a:tc>
                <a:tc>
                  <a:txBody>
                    <a:bodyPr/>
                    <a:lstStyle/>
                    <a:p>
                      <a:r>
                        <a:rPr lang="en-US" sz="600" dirty="0"/>
                        <a:t>Affirmation</a:t>
                      </a:r>
                    </a:p>
                  </a:txBody>
                  <a:tcPr anchor="ctr"/>
                </a:tc>
                <a:tc>
                  <a:txBody>
                    <a:bodyPr/>
                    <a:lstStyle/>
                    <a:p>
                      <a:r>
                        <a:rPr lang="en-US" sz="600" dirty="0"/>
                        <a:t>Exploration-driving Question</a:t>
                      </a:r>
                    </a:p>
                  </a:txBody>
                  <a:tcPr anchor="ctr"/>
                </a:tc>
                <a:tc>
                  <a:txBody>
                    <a:bodyPr/>
                    <a:lstStyle/>
                    <a:p>
                      <a:r>
                        <a:rPr lang="en-US" sz="600" dirty="0"/>
                        <a:t>Cross-domain Association</a:t>
                      </a:r>
                    </a:p>
                  </a:txBody>
                  <a:tcPr anchor="ctr"/>
                </a:tc>
                <a:tc>
                  <a:txBody>
                    <a:bodyPr/>
                    <a:lstStyle/>
                    <a:p>
                      <a:r>
                        <a:rPr lang="en-US" sz="600" dirty="0"/>
                        <a:t>Hint-style Guidance (based on Association)</a:t>
                      </a:r>
                    </a:p>
                  </a:txBody>
                  <a:tcPr anchor="ctr"/>
                </a:tc>
                <a:tc>
                  <a:txBody>
                    <a:bodyPr/>
                    <a:lstStyle/>
                    <a:p>
                      <a:r>
                        <a:rPr lang="en-US" sz="600" dirty="0"/>
                        <a:t>Divergent suggestions</a:t>
                      </a:r>
                    </a:p>
                  </a:txBody>
                  <a:tcPr anchor="ctr"/>
                </a:tc>
                <a:tc>
                  <a:txBody>
                    <a:bodyPr/>
                    <a:lstStyle/>
                    <a:p>
                      <a:r>
                        <a:rPr lang="en-US" sz="600" dirty="0"/>
                        <a:t>Adversarial feedback</a:t>
                      </a:r>
                    </a:p>
                  </a:txBody>
                  <a:tcPr anchor="ctr"/>
                </a:tc>
                <a:extLst>
                  <a:ext uri="{0D108BD9-81ED-4DB2-BD59-A6C34878D82A}">
                    <a16:rowId xmlns:a16="http://schemas.microsoft.com/office/drawing/2014/main" val="1920381505"/>
                  </a:ext>
                </a:extLst>
              </a:tr>
              <a:tr h="180000">
                <a:tc>
                  <a:txBody>
                    <a:bodyPr/>
                    <a:lstStyle/>
                    <a:p>
                      <a:r>
                        <a:rPr lang="en-US" sz="600"/>
                        <a:t>1</a:t>
                      </a:r>
                      <a:endParaRPr lang="en-US" sz="600" dirty="0"/>
                    </a:p>
                  </a:txBody>
                  <a:tcPr anchor="ctr"/>
                </a:tc>
                <a:tc>
                  <a:txBody>
                    <a:bodyPr/>
                    <a:lstStyle/>
                    <a:p>
                      <a:r>
                        <a:rPr lang="en-US" sz="600" dirty="0"/>
                        <a:t>Artifact Manipulation -1 </a:t>
                      </a:r>
                    </a:p>
                  </a:txBody>
                  <a:tcPr anchor="ctr"/>
                </a:tc>
                <a:tc>
                  <a:txBody>
                    <a:bodyPr/>
                    <a:lstStyle/>
                    <a:p>
                      <a:r>
                        <a:rPr lang="en-US" altLang="zh-CN" sz="600" dirty="0"/>
                        <a:t>Assumption Buster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 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2598517783"/>
                  </a:ext>
                </a:extLst>
              </a:tr>
              <a:tr h="180000">
                <a:tc>
                  <a:txBody>
                    <a:bodyPr/>
                    <a:lstStyle/>
                    <a:p>
                      <a:r>
                        <a:rPr lang="en-US" sz="600"/>
                        <a:t>2</a:t>
                      </a:r>
                      <a:endParaRPr lang="en-US" sz="600" dirty="0"/>
                    </a:p>
                  </a:txBody>
                  <a:tcPr anchor="ctr"/>
                </a:tc>
                <a:tc>
                  <a:txBody>
                    <a:bodyPr/>
                    <a:lstStyle/>
                    <a:p>
                      <a:r>
                        <a:rPr lang="en-US" sz="600"/>
                        <a:t>Artifact Manipulation -2 </a:t>
                      </a:r>
                      <a:endParaRPr lang="en-US" sz="600" dirty="0"/>
                    </a:p>
                  </a:txBody>
                  <a:tcPr anchor="ctr"/>
                </a:tc>
                <a:tc>
                  <a:txBody>
                    <a:bodyPr/>
                    <a:lstStyle/>
                    <a:p>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2005006004"/>
                  </a:ext>
                </a:extLst>
              </a:tr>
              <a:tr h="180000">
                <a:tc>
                  <a:txBody>
                    <a:bodyPr/>
                    <a:lstStyle/>
                    <a:p>
                      <a:r>
                        <a:rPr lang="en-US" sz="600"/>
                        <a:t>3</a:t>
                      </a:r>
                      <a:endParaRPr lang="en-US" sz="600" dirty="0"/>
                    </a:p>
                  </a:txBody>
                  <a:tcPr anchor="ctr"/>
                </a:tc>
                <a:tc>
                  <a:txBody>
                    <a:bodyPr/>
                    <a:lstStyle/>
                    <a:p>
                      <a:r>
                        <a:rPr lang="en-US" sz="600"/>
                        <a:t>Artifact Manipulation -3</a:t>
                      </a:r>
                      <a:endParaRPr lang="en-US" sz="600" dirty="0"/>
                    </a:p>
                  </a:txBody>
                  <a:tcPr anchor="ctr"/>
                </a:tc>
                <a:tc>
                  <a:txBody>
                    <a:bodyPr/>
                    <a:lstStyle/>
                    <a:p>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2498930428"/>
                  </a:ext>
                </a:extLst>
              </a:tr>
              <a:tr h="180000">
                <a:tc>
                  <a:txBody>
                    <a:bodyPr/>
                    <a:lstStyle/>
                    <a:p>
                      <a:r>
                        <a:rPr lang="en-US" sz="600"/>
                        <a:t>4</a:t>
                      </a:r>
                      <a:endParaRPr lang="en-US" sz="600" dirty="0"/>
                    </a:p>
                  </a:txBody>
                  <a:tcPr anchor="ctr"/>
                </a:tc>
                <a:tc>
                  <a:txBody>
                    <a:bodyPr/>
                    <a:lstStyle/>
                    <a:p>
                      <a:r>
                        <a:rPr lang="en-US" sz="600"/>
                        <a:t>Artifact Manipulation -4</a:t>
                      </a:r>
                      <a:endParaRPr lang="en-US" sz="600" dirty="0"/>
                    </a:p>
                  </a:txBody>
                  <a:tcPr anchor="ctr"/>
                </a:tc>
                <a:tc>
                  <a:txBody>
                    <a:bodyPr/>
                    <a:lstStyle/>
                    <a:p>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770897471"/>
                  </a:ext>
                </a:extLst>
              </a:tr>
              <a:tr h="180000">
                <a:tc>
                  <a:txBody>
                    <a:bodyPr/>
                    <a:lstStyle/>
                    <a:p>
                      <a:r>
                        <a:rPr lang="en-US" sz="600"/>
                        <a:t>5</a:t>
                      </a:r>
                      <a:endParaRPr lang="en-US" sz="600" dirty="0"/>
                    </a:p>
                  </a:txBody>
                  <a:tcPr anchor="ctr"/>
                </a:tc>
                <a:tc>
                  <a:txBody>
                    <a:bodyPr/>
                    <a:lstStyle/>
                    <a:p>
                      <a:r>
                        <a:rPr lang="en-US" sz="600"/>
                        <a:t>Artifact Manipulation -5</a:t>
                      </a:r>
                      <a:endParaRPr lang="en-US" sz="600" dirty="0"/>
                    </a:p>
                  </a:txBody>
                  <a:tcPr anchor="ctr"/>
                </a:tc>
                <a:tc>
                  <a:txBody>
                    <a:bodyPr/>
                    <a:lstStyle/>
                    <a:p>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2911531359"/>
                  </a:ext>
                </a:extLst>
              </a:tr>
              <a:tr h="180000">
                <a:tc>
                  <a:txBody>
                    <a:bodyPr/>
                    <a:lstStyle/>
                    <a:p>
                      <a:r>
                        <a:rPr lang="en-US" sz="600"/>
                        <a:t>6</a:t>
                      </a:r>
                      <a:endParaRPr lang="en-US" sz="600" dirty="0"/>
                    </a:p>
                  </a:txBody>
                  <a:tcPr anchor="ctr"/>
                </a:tc>
                <a:tc>
                  <a:txBody>
                    <a:bodyPr/>
                    <a:lstStyle/>
                    <a:p>
                      <a:r>
                        <a:rPr lang="en-US" sz="600"/>
                        <a:t>Artifact Manipulation -6</a:t>
                      </a:r>
                      <a:endParaRPr lang="en-US" sz="600" dirty="0"/>
                    </a:p>
                  </a:txBody>
                  <a:tcPr anchor="ctr"/>
                </a:tc>
                <a:tc>
                  <a:txBody>
                    <a:bodyPr/>
                    <a:lstStyle/>
                    <a:p>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136287606"/>
                  </a:ext>
                </a:extLst>
              </a:tr>
              <a:tr h="180000">
                <a:tc>
                  <a:txBody>
                    <a:bodyPr/>
                    <a:lstStyle/>
                    <a:p>
                      <a:r>
                        <a:rPr lang="en-US" sz="600"/>
                        <a:t>7</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Expert Consultation -1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dirty="0"/>
                        <a:t>Assumption Buster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4162594426"/>
                  </a:ext>
                </a:extLst>
              </a:tr>
              <a:tr h="180000">
                <a:tc>
                  <a:txBody>
                    <a:bodyPr/>
                    <a:lstStyle/>
                    <a:p>
                      <a:r>
                        <a:rPr lang="en-US" sz="600"/>
                        <a:t>8</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Consultation-2</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1402785145"/>
                  </a:ext>
                </a:extLst>
              </a:tr>
              <a:tr h="180000">
                <a:tc>
                  <a:txBody>
                    <a:bodyPr/>
                    <a:lstStyle/>
                    <a:p>
                      <a:r>
                        <a:rPr lang="en-US" sz="600"/>
                        <a:t>9</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Consultation-3</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609943527"/>
                  </a:ext>
                </a:extLst>
              </a:tr>
              <a:tr h="180000">
                <a:tc>
                  <a:txBody>
                    <a:bodyPr/>
                    <a:lstStyle/>
                    <a:p>
                      <a:r>
                        <a:rPr lang="en-US" sz="600"/>
                        <a:t>10</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Consultation-4</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3445879024"/>
                  </a:ext>
                </a:extLst>
              </a:tr>
              <a:tr h="180000">
                <a:tc>
                  <a:txBody>
                    <a:bodyPr/>
                    <a:lstStyle/>
                    <a:p>
                      <a:r>
                        <a:rPr lang="en-US" sz="600"/>
                        <a:t>11</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Consultation-5</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3709556903"/>
                  </a:ext>
                </a:extLst>
              </a:tr>
              <a:tr h="180000">
                <a:tc>
                  <a:txBody>
                    <a:bodyPr/>
                    <a:lstStyle/>
                    <a:p>
                      <a:r>
                        <a:rPr lang="en-US" sz="600"/>
                        <a:t>12</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Consultation-6</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a:t>Assumption Buster</a:t>
                      </a:r>
                      <a:endParaRPr lang="en-US" altLang="zh-CN"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extLst>
                  <a:ext uri="{0D108BD9-81ED-4DB2-BD59-A6C34878D82A}">
                    <a16:rowId xmlns:a16="http://schemas.microsoft.com/office/drawing/2014/main" val="309103319"/>
                  </a:ext>
                </a:extLst>
              </a:tr>
              <a:tr h="180000">
                <a:tc>
                  <a:txBody>
                    <a:bodyPr/>
                    <a:lstStyle/>
                    <a:p>
                      <a:r>
                        <a:rPr lang="sv-SE" sz="600"/>
                        <a:t>1</a:t>
                      </a:r>
                      <a:r>
                        <a:rPr lang="en-US" sz="600"/>
                        <a:t>3</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Artifact Manipulation-1</a:t>
                      </a:r>
                      <a:endParaRPr lang="en-US" sz="600" dirty="0"/>
                    </a:p>
                  </a:txBody>
                  <a:tcPr anchor="ctr"/>
                </a:tc>
                <a:tc>
                  <a:txBody>
                    <a:bodyPr/>
                    <a:lstStyle/>
                    <a:p>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4241842801"/>
                  </a:ext>
                </a:extLst>
              </a:tr>
              <a:tr h="180000">
                <a:tc>
                  <a:txBody>
                    <a:bodyPr/>
                    <a:lstStyle/>
                    <a:p>
                      <a:r>
                        <a:rPr lang="en-US" sz="600"/>
                        <a:t>14</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Artifact Manipulation-2</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2665664605"/>
                  </a:ext>
                </a:extLst>
              </a:tr>
              <a:tr h="180000">
                <a:tc>
                  <a:txBody>
                    <a:bodyPr/>
                    <a:lstStyle/>
                    <a:p>
                      <a:r>
                        <a:rPr lang="en-US" sz="600"/>
                        <a:t>15</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Artifact Manipulation-3</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3670223184"/>
                  </a:ext>
                </a:extLst>
              </a:tr>
              <a:tr h="180000">
                <a:tc>
                  <a:txBody>
                    <a:bodyPr/>
                    <a:lstStyle/>
                    <a:p>
                      <a:r>
                        <a:rPr lang="en-US" sz="600"/>
                        <a:t>16</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Artifact Manipulation-4</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3520206404"/>
                  </a:ext>
                </a:extLst>
              </a:tr>
              <a:tr h="180000">
                <a:tc>
                  <a:txBody>
                    <a:bodyPr/>
                    <a:lstStyle/>
                    <a:p>
                      <a:r>
                        <a:rPr lang="en-US" sz="600"/>
                        <a:t>17</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Artifact Manipulation-5</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4030167678"/>
                  </a:ext>
                </a:extLst>
              </a:tr>
              <a:tr h="180000">
                <a:tc>
                  <a:txBody>
                    <a:bodyPr/>
                    <a:lstStyle/>
                    <a:p>
                      <a:r>
                        <a:rPr lang="en-US" sz="600"/>
                        <a:t>18</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Artifact Manipulation-6</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3327128166"/>
                  </a:ext>
                </a:extLst>
              </a:tr>
              <a:tr h="180000">
                <a:tc>
                  <a:txBody>
                    <a:bodyPr/>
                    <a:lstStyle/>
                    <a:p>
                      <a:r>
                        <a:rPr lang="en-US" sz="600"/>
                        <a:t>19</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Expert Consultation-1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dirty="0" err="1"/>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3421471299"/>
                  </a:ext>
                </a:extLst>
              </a:tr>
              <a:tr h="180000">
                <a:tc>
                  <a:txBody>
                    <a:bodyPr/>
                    <a:lstStyle/>
                    <a:p>
                      <a:r>
                        <a:rPr lang="sv-SE" sz="600"/>
                        <a:t>2</a:t>
                      </a:r>
                      <a:r>
                        <a:rPr lang="en-US" sz="600"/>
                        <a:t>0</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Consultation-2</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386747162"/>
                  </a:ext>
                </a:extLst>
              </a:tr>
              <a:tr h="180000">
                <a:tc>
                  <a:txBody>
                    <a:bodyPr/>
                    <a:lstStyle/>
                    <a:p>
                      <a:r>
                        <a:rPr lang="sv-SE" sz="600"/>
                        <a:t>2</a:t>
                      </a:r>
                      <a:r>
                        <a:rPr lang="en-US" sz="600"/>
                        <a:t>1</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Consultation-3</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Eligibility decision</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3835292324"/>
                  </a:ext>
                </a:extLst>
              </a:tr>
              <a:tr h="180000">
                <a:tc>
                  <a:txBody>
                    <a:bodyPr/>
                    <a:lstStyle/>
                    <a:p>
                      <a:r>
                        <a:rPr lang="sv-SE" sz="600"/>
                        <a:t>2</a:t>
                      </a:r>
                      <a:r>
                        <a:rPr lang="en-US" sz="600"/>
                        <a:t>2</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Consultation-4</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2391241746"/>
                  </a:ext>
                </a:extLst>
              </a:tr>
              <a:tr h="180000">
                <a:tc>
                  <a:txBody>
                    <a:bodyPr/>
                    <a:lstStyle/>
                    <a:p>
                      <a:r>
                        <a:rPr lang="sv-SE" sz="600"/>
                        <a:t>2</a:t>
                      </a:r>
                      <a:r>
                        <a:rPr lang="en-US" sz="600"/>
                        <a:t>3</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Consultation-5</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1888988741"/>
                  </a:ext>
                </a:extLst>
              </a:tr>
              <a:tr h="180000">
                <a:tc>
                  <a:txBody>
                    <a:bodyPr/>
                    <a:lstStyle/>
                    <a:p>
                      <a:r>
                        <a:rPr lang="sv-SE" sz="600"/>
                        <a:t>24</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Expert Consultation-6</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Multi-user sync</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a:t>x</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extLst>
                  <a:ext uri="{0D108BD9-81ED-4DB2-BD59-A6C34878D82A}">
                    <a16:rowId xmlns:a16="http://schemas.microsoft.com/office/drawing/2014/main" val="1666266858"/>
                  </a:ext>
                </a:extLst>
              </a:tr>
            </a:tbl>
          </a:graphicData>
        </a:graphic>
      </p:graphicFrame>
    </p:spTree>
    <p:extLst>
      <p:ext uri="{BB962C8B-B14F-4D97-AF65-F5344CB8AC3E}">
        <p14:creationId xmlns:p14="http://schemas.microsoft.com/office/powerpoint/2010/main" val="2012620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C5FBE14-798B-90B6-DA41-D9B48F6BBBB6}"/>
              </a:ext>
            </a:extLst>
          </p:cNvPr>
          <p:cNvGraphicFramePr>
            <a:graphicFrameLocks noGrp="1"/>
          </p:cNvGraphicFramePr>
          <p:nvPr>
            <p:extLst>
              <p:ext uri="{D42A27DB-BD31-4B8C-83A1-F6EECF244321}">
                <p14:modId xmlns:p14="http://schemas.microsoft.com/office/powerpoint/2010/main" val="1310040765"/>
              </p:ext>
            </p:extLst>
          </p:nvPr>
        </p:nvGraphicFramePr>
        <p:xfrm>
          <a:off x="92497" y="1129080"/>
          <a:ext cx="8280000" cy="1463040"/>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324092868"/>
                    </a:ext>
                  </a:extLst>
                </a:gridCol>
                <a:gridCol w="828000">
                  <a:extLst>
                    <a:ext uri="{9D8B030D-6E8A-4147-A177-3AD203B41FA5}">
                      <a16:colId xmlns:a16="http://schemas.microsoft.com/office/drawing/2014/main" val="933705384"/>
                    </a:ext>
                  </a:extLst>
                </a:gridCol>
                <a:gridCol w="828000">
                  <a:extLst>
                    <a:ext uri="{9D8B030D-6E8A-4147-A177-3AD203B41FA5}">
                      <a16:colId xmlns:a16="http://schemas.microsoft.com/office/drawing/2014/main" val="2050752282"/>
                    </a:ext>
                  </a:extLst>
                </a:gridCol>
                <a:gridCol w="828000">
                  <a:extLst>
                    <a:ext uri="{9D8B030D-6E8A-4147-A177-3AD203B41FA5}">
                      <a16:colId xmlns:a16="http://schemas.microsoft.com/office/drawing/2014/main" val="125164965"/>
                    </a:ext>
                  </a:extLst>
                </a:gridCol>
                <a:gridCol w="828000">
                  <a:extLst>
                    <a:ext uri="{9D8B030D-6E8A-4147-A177-3AD203B41FA5}">
                      <a16:colId xmlns:a16="http://schemas.microsoft.com/office/drawing/2014/main" val="2339394421"/>
                    </a:ext>
                  </a:extLst>
                </a:gridCol>
                <a:gridCol w="828000">
                  <a:extLst>
                    <a:ext uri="{9D8B030D-6E8A-4147-A177-3AD203B41FA5}">
                      <a16:colId xmlns:a16="http://schemas.microsoft.com/office/drawing/2014/main" val="3131553794"/>
                    </a:ext>
                  </a:extLst>
                </a:gridCol>
                <a:gridCol w="828000">
                  <a:extLst>
                    <a:ext uri="{9D8B030D-6E8A-4147-A177-3AD203B41FA5}">
                      <a16:colId xmlns:a16="http://schemas.microsoft.com/office/drawing/2014/main" val="1991060649"/>
                    </a:ext>
                  </a:extLst>
                </a:gridCol>
                <a:gridCol w="828000">
                  <a:extLst>
                    <a:ext uri="{9D8B030D-6E8A-4147-A177-3AD203B41FA5}">
                      <a16:colId xmlns:a16="http://schemas.microsoft.com/office/drawing/2014/main" val="2809748582"/>
                    </a:ext>
                  </a:extLst>
                </a:gridCol>
                <a:gridCol w="828000">
                  <a:extLst>
                    <a:ext uri="{9D8B030D-6E8A-4147-A177-3AD203B41FA5}">
                      <a16:colId xmlns:a16="http://schemas.microsoft.com/office/drawing/2014/main" val="1927692897"/>
                    </a:ext>
                  </a:extLst>
                </a:gridCol>
                <a:gridCol w="828000">
                  <a:extLst>
                    <a:ext uri="{9D8B030D-6E8A-4147-A177-3AD203B41FA5}">
                      <a16:colId xmlns:a16="http://schemas.microsoft.com/office/drawing/2014/main" val="191042010"/>
                    </a:ext>
                  </a:extLst>
                </a:gridCol>
              </a:tblGrid>
              <a:tr h="180000">
                <a:tc>
                  <a:txBody>
                    <a:bodyPr/>
                    <a:lstStyle/>
                    <a:p>
                      <a:r>
                        <a:rPr lang="en-US" altLang="zh-CN" sz="600" dirty="0"/>
                        <a:t>ID</a:t>
                      </a:r>
                      <a:endParaRPr lang="en-US" sz="600" dirty="0"/>
                    </a:p>
                  </a:txBody>
                  <a:tcPr anchor="ctr"/>
                </a:tc>
                <a:tc>
                  <a:txBody>
                    <a:bodyPr/>
                    <a:lstStyle/>
                    <a:p>
                      <a:r>
                        <a:rPr lang="en-US" altLang="zh-CN" sz="600" dirty="0"/>
                        <a:t>User Purpose</a:t>
                      </a:r>
                      <a:endParaRPr lang="en-US" sz="600" dirty="0"/>
                    </a:p>
                  </a:txBody>
                  <a:tcPr anchor="ctr"/>
                </a:tc>
                <a:tc>
                  <a:txBody>
                    <a:bodyPr/>
                    <a:lstStyle/>
                    <a:p>
                      <a:r>
                        <a:rPr lang="en-US" altLang="zh-CN" sz="600" dirty="0"/>
                        <a:t>Assistant Feature</a:t>
                      </a:r>
                      <a:endParaRPr lang="en-US" sz="600" dirty="0"/>
                    </a:p>
                  </a:txBody>
                  <a:tcPr anchor="ctr"/>
                </a:tc>
                <a:tc>
                  <a:txBody>
                    <a:bodyPr/>
                    <a:lstStyle/>
                    <a:p>
                      <a:r>
                        <a:rPr lang="en-US" altLang="zh-CN" sz="600" dirty="0"/>
                        <a:t>Query Topic</a:t>
                      </a:r>
                      <a:endParaRPr lang="en-US" sz="600" dirty="0"/>
                    </a:p>
                  </a:txBody>
                  <a:tcPr anchor="ctr"/>
                </a:tc>
                <a:tc>
                  <a:txBody>
                    <a:bodyPr/>
                    <a:lstStyle/>
                    <a:p>
                      <a:r>
                        <a:rPr lang="en-US" sz="600" dirty="0"/>
                        <a:t>Affirmation</a:t>
                      </a:r>
                    </a:p>
                  </a:txBody>
                  <a:tcPr anchor="ctr"/>
                </a:tc>
                <a:tc>
                  <a:txBody>
                    <a:bodyPr/>
                    <a:lstStyle/>
                    <a:p>
                      <a:r>
                        <a:rPr lang="en-US" sz="600" dirty="0"/>
                        <a:t>Exploration-driving Question</a:t>
                      </a:r>
                    </a:p>
                  </a:txBody>
                  <a:tcPr anchor="ctr"/>
                </a:tc>
                <a:tc>
                  <a:txBody>
                    <a:bodyPr/>
                    <a:lstStyle/>
                    <a:p>
                      <a:r>
                        <a:rPr lang="en-US" sz="600" dirty="0"/>
                        <a:t>Cross-domain Association</a:t>
                      </a:r>
                    </a:p>
                  </a:txBody>
                  <a:tcPr anchor="ctr"/>
                </a:tc>
                <a:tc>
                  <a:txBody>
                    <a:bodyPr/>
                    <a:lstStyle/>
                    <a:p>
                      <a:r>
                        <a:rPr lang="en-US" sz="600" dirty="0"/>
                        <a:t>Hint-style Guidance (based on Association)</a:t>
                      </a:r>
                    </a:p>
                  </a:txBody>
                  <a:tcPr anchor="ctr"/>
                </a:tc>
                <a:tc>
                  <a:txBody>
                    <a:bodyPr/>
                    <a:lstStyle/>
                    <a:p>
                      <a:r>
                        <a:rPr lang="en-US" sz="600" dirty="0"/>
                        <a:t>Divergent suggestions</a:t>
                      </a:r>
                    </a:p>
                  </a:txBody>
                  <a:tcPr anchor="ctr"/>
                </a:tc>
                <a:tc>
                  <a:txBody>
                    <a:bodyPr/>
                    <a:lstStyle/>
                    <a:p>
                      <a:r>
                        <a:rPr lang="en-US" sz="600" dirty="0"/>
                        <a:t>Adversarial feedback</a:t>
                      </a:r>
                    </a:p>
                  </a:txBody>
                  <a:tcPr anchor="ctr"/>
                </a:tc>
                <a:extLst>
                  <a:ext uri="{0D108BD9-81ED-4DB2-BD59-A6C34878D82A}">
                    <a16:rowId xmlns:a16="http://schemas.microsoft.com/office/drawing/2014/main" val="2838245292"/>
                  </a:ext>
                </a:extLst>
              </a:tr>
              <a:tr h="180000">
                <a:tc>
                  <a:txBody>
                    <a:bodyPr/>
                    <a:lstStyle/>
                    <a:p>
                      <a:r>
                        <a:rPr lang="en-US" sz="600" dirty="0"/>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(baseline) Expert Consultation-1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dirty="0"/>
                        <a:t>Assumption Buster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r>
                        <a:rPr lang="en-US" sz="600" dirty="0"/>
                        <a:t>x</a:t>
                      </a:r>
                    </a:p>
                  </a:txBody>
                  <a:tcPr anchor="ctr"/>
                </a:tc>
                <a:extLst>
                  <a:ext uri="{0D108BD9-81ED-4DB2-BD59-A6C34878D82A}">
                    <a16:rowId xmlns:a16="http://schemas.microsoft.com/office/drawing/2014/main" val="1855158729"/>
                  </a:ext>
                </a:extLst>
              </a:tr>
              <a:tr h="180000">
                <a:tc>
                  <a:txBody>
                    <a:bodyPr/>
                    <a:lstStyle/>
                    <a:p>
                      <a:r>
                        <a:rPr lang="en-US" sz="600" dirty="0"/>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(baseline) Expert Consultation-2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dirty="0"/>
                        <a:t>Assumption Buster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r>
                        <a:rPr lang="en-US" sz="600" dirty="0"/>
                        <a:t>x</a:t>
                      </a:r>
                    </a:p>
                  </a:txBody>
                  <a:tcPr anchor="ctr"/>
                </a:tc>
                <a:extLst>
                  <a:ext uri="{0D108BD9-81ED-4DB2-BD59-A6C34878D82A}">
                    <a16:rowId xmlns:a16="http://schemas.microsoft.com/office/drawing/2014/main" val="3434143178"/>
                  </a:ext>
                </a:extLst>
              </a:tr>
              <a:tr h="180000">
                <a:tc>
                  <a:txBody>
                    <a:bodyPr/>
                    <a:lstStyle/>
                    <a:p>
                      <a:r>
                        <a:rPr lang="en-US" sz="600" dirty="0"/>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(baseline) Expert Consultation-1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dirty="0" err="1"/>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r>
                        <a:rPr lang="en-US" sz="600" dirty="0"/>
                        <a:t>x</a:t>
                      </a:r>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extLst>
                  <a:ext uri="{0D108BD9-81ED-4DB2-BD59-A6C34878D82A}">
                    <a16:rowId xmlns:a16="http://schemas.microsoft.com/office/drawing/2014/main" val="2907786452"/>
                  </a:ext>
                </a:extLst>
              </a:tr>
              <a:tr h="180000">
                <a:tc>
                  <a:txBody>
                    <a:bodyPr/>
                    <a:lstStyle/>
                    <a:p>
                      <a:r>
                        <a:rPr lang="en-US" sz="600" dirty="0"/>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(baseline) Expert Consultation-2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600" dirty="0" err="1"/>
                        <a:t>Brainstormer</a:t>
                      </a:r>
                      <a:endParaRPr lang="en-US" sz="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Eligibility decision</a:t>
                      </a:r>
                    </a:p>
                  </a:txBody>
                  <a:tcPr anchor="ctr"/>
                </a:tc>
                <a:tc>
                  <a:txBody>
                    <a:bodyPr/>
                    <a:lstStyle/>
                    <a:p>
                      <a:r>
                        <a:rPr lang="en-US" sz="600" dirty="0"/>
                        <a:t>x</a:t>
                      </a:r>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tc>
                  <a:txBody>
                    <a:bodyPr/>
                    <a:lstStyle/>
                    <a:p>
                      <a:endParaRPr lang="en-US" sz="600" dirty="0"/>
                    </a:p>
                  </a:txBody>
                  <a:tcPr anchor="ctr"/>
                </a:tc>
                <a:extLst>
                  <a:ext uri="{0D108BD9-81ED-4DB2-BD59-A6C34878D82A}">
                    <a16:rowId xmlns:a16="http://schemas.microsoft.com/office/drawing/2014/main" val="1575585283"/>
                  </a:ext>
                </a:extLst>
              </a:tr>
            </a:tbl>
          </a:graphicData>
        </a:graphic>
      </p:graphicFrame>
    </p:spTree>
    <p:extLst>
      <p:ext uri="{BB962C8B-B14F-4D97-AF65-F5344CB8AC3E}">
        <p14:creationId xmlns:p14="http://schemas.microsoft.com/office/powerpoint/2010/main" val="144359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76BED2-911D-8A3E-7C89-64028CA00764}"/>
              </a:ext>
            </a:extLst>
          </p:cNvPr>
          <p:cNvSpPr txBox="1"/>
          <p:nvPr/>
        </p:nvSpPr>
        <p:spPr>
          <a:xfrm>
            <a:off x="0" y="-1583110"/>
            <a:ext cx="11029104" cy="13126670"/>
          </a:xfrm>
          <a:prstGeom prst="rect">
            <a:avLst/>
          </a:prstGeom>
          <a:noFill/>
        </p:spPr>
        <p:txBody>
          <a:bodyPr wrap="square">
            <a:spAutoFit/>
          </a:bodyPr>
          <a:lstStyle/>
          <a:p>
            <a:r>
              <a:rPr lang="en-SE" sz="1100" dirty="0"/>
              <a:t>@Brainstormer What are the core rules to follow or states to focus when test a race condition in a multi-user book/cancel situation?</a:t>
            </a:r>
          </a:p>
          <a:p>
            <a:endParaRPr lang="en-SE" sz="1100" dirty="0"/>
          </a:p>
          <a:p>
            <a:r>
              <a:rPr lang="en-SE" sz="1100" dirty="0">
                <a:solidFill>
                  <a:schemeClr val="accent2"/>
                </a:solidFill>
              </a:rPr>
              <a:t>Nice focus — testing race conditions in book/cancel flows is exactly where invariants and timing windows catch bugs. Below I’ll (A) list the core invariants/rules to assert, (B) the important runtime states to watch, and (C) concrete race scenarios and checks to run. I’ll also give a few cross-domain hints to stimulate test ideas.</a:t>
            </a:r>
          </a:p>
          <a:p>
            <a:endParaRPr lang="en-SE" sz="1100" dirty="0"/>
          </a:p>
          <a:p>
            <a:r>
              <a:rPr lang="en-SE" sz="1100" dirty="0"/>
              <a:t>A. Core rules / invariants to enforce and assert</a:t>
            </a:r>
          </a:p>
          <a:p>
            <a:endParaRPr lang="en-SE" sz="1100" dirty="0"/>
          </a:p>
          <a:p>
            <a:r>
              <a:rPr lang="en-SE" sz="1100" dirty="0"/>
              <a:t>Do not allow reservations when remaining slots = 0 (class must be Full). This is a hard business rule to enforce under concurrency.</a:t>
            </a:r>
          </a:p>
          <a:p>
            <a:r>
              <a:rPr lang="en-SE" sz="1100" dirty="0"/>
              <a:t>Cancelling a reservation must remove the reservation and increase remaining slots by exactly 1. The UI must refresh to reflect that change.</a:t>
            </a:r>
          </a:p>
          <a:p>
            <a:r>
              <a:rPr lang="en-SE" sz="1100" dirty="0"/>
              <a:t>Remaining slots / capacity must never go negative and should never exceed capacity under correct operation. Use this as a primary invariant </a:t>
            </a:r>
            <a:r>
              <a:rPr lang="en-SE" sz="1100"/>
              <a:t>check.</a:t>
            </a:r>
            <a:endParaRPr lang="en-SE" sz="1100" dirty="0"/>
          </a:p>
          <a:p>
            <a:r>
              <a:rPr lang="en-SE" sz="1100" dirty="0"/>
              <a:t>Users may only cancel their own reservations; cancellations for past classes or within the 1‑hour cutoff must be rejected. Those checks must still hold when concurrent actions occur.</a:t>
            </a:r>
          </a:p>
          <a:p>
            <a:r>
              <a:rPr lang="en-SE" sz="1100" dirty="0"/>
              <a:t>Reservation meta-rules (no double booking at same time; max 3 future reservations) must be enforced atomically with the slot decrement.</a:t>
            </a:r>
          </a:p>
          <a:p>
            <a:r>
              <a:rPr lang="en-SE" sz="1100" dirty="0"/>
              <a:t>B. Runtime states to focus on during tests</a:t>
            </a:r>
          </a:p>
          <a:p>
            <a:endParaRPr lang="en-SE" sz="1100" dirty="0"/>
          </a:p>
          <a:p>
            <a:r>
              <a:rPr lang="en-SE" sz="1100" dirty="0"/>
              <a:t>remainingSlots (numeric) — the single most important value for races.</a:t>
            </a:r>
          </a:p>
          <a:p>
            <a:r>
              <a:rPr lang="en-SE" sz="1100" dirty="0"/>
              <a:t>Reservation existence (per user): whether a given reservation record exists for a user/class.</a:t>
            </a:r>
          </a:p>
          <a:p>
            <a:r>
              <a:rPr lang="en-SE" sz="1100" dirty="0"/>
              <a:t>Class status badge (Available / Full / Past) — ensure it reflects remainingSlots/time.</a:t>
            </a:r>
          </a:p>
          <a:p>
            <a:r>
              <a:rPr lang="en-SE" sz="1100" dirty="0"/>
              <a:t>UI panels: “Available Classes” and “My Reservations” and the message area — test whether they refresh and show correct messages.</a:t>
            </a:r>
          </a:p>
          <a:p>
            <a:r>
              <a:rPr lang="en-SE" sz="1100" dirty="0"/>
              <a:t>System time dependency / clock: the app uses client local time for past/future and 1‑hour rules — clock skew between clients/tabs is a test factor.</a:t>
            </a:r>
          </a:p>
          <a:p>
            <a:r>
              <a:rPr lang="en-SE" sz="1100" dirty="0"/>
              <a:t>C. Concrete race scenarios (how to run + what to assert)</a:t>
            </a:r>
          </a:p>
          <a:p>
            <a:endParaRPr lang="en-SE" sz="1100" dirty="0"/>
          </a:p>
          <a:p>
            <a:r>
              <a:rPr lang="en-SE" sz="1100" dirty="0"/>
              <a:t>Last‑seat duel (classic)</a:t>
            </a:r>
          </a:p>
          <a:p>
            <a:r>
              <a:rPr lang="en-SE" sz="1100" dirty="0"/>
              <a:t>Setup: remainingSlots = 1. Two different user sessions (different browsers/tabs/users) press Reserve “at the same time” (simulate near-simultaneous requests).</a:t>
            </a:r>
          </a:p>
          <a:p>
            <a:r>
              <a:rPr lang="en-SE" sz="1100" dirty="0"/>
              <a:t>Expectation/assertions:</a:t>
            </a:r>
          </a:p>
          <a:p>
            <a:r>
              <a:rPr lang="en-SE" sz="1100" dirty="0"/>
              <a:t>Exactly one succeeds and creates a reservation for its user.</a:t>
            </a:r>
          </a:p>
          <a:p>
            <a:r>
              <a:rPr lang="en-SE" sz="1100" dirty="0"/>
              <a:t>remainingSlots becomes 0, status becomes Full.</a:t>
            </a:r>
          </a:p>
          <a:p>
            <a:r>
              <a:rPr lang="en-SE" sz="1100" dirty="0"/>
              <a:t>The losing attempt is rejected with a clear error (full class).</a:t>
            </a:r>
          </a:p>
          <a:p>
            <a:r>
              <a:rPr lang="en-SE" sz="1100" dirty="0"/>
              <a:t>No negative remainingSlots and total reservedCount + remainingSlots == capacity. (Use this conservation invariant.)</a:t>
            </a:r>
          </a:p>
          <a:p>
            <a:r>
              <a:rPr lang="en-SE" sz="1100" dirty="0"/>
              <a:t>2. Cancel + Reserve race</a:t>
            </a:r>
          </a:p>
          <a:p>
            <a:endParaRPr lang="en-SE" sz="1100" dirty="0"/>
          </a:p>
          <a:p>
            <a:r>
              <a:rPr lang="en-SE" sz="1100" dirty="0"/>
              <a:t>Setup: User A cancels while User B reserves concurrently.</a:t>
            </a:r>
          </a:p>
          <a:p>
            <a:r>
              <a:rPr lang="en-SE" sz="1100" dirty="0"/>
              <a:t>Variants: cancel processed first vs reserve processed first.</a:t>
            </a:r>
          </a:p>
          <a:p>
            <a:r>
              <a:rPr lang="en-SE" sz="1100" dirty="0"/>
              <a:t>Expectation/assertions:</a:t>
            </a:r>
          </a:p>
          <a:p>
            <a:r>
              <a:rPr lang="en-SE" sz="1100" dirty="0"/>
              <a:t>Final reserved count and remainingSlots are consistent with one cancel and one reserve (net zero change) or with whichever action won ordering.</a:t>
            </a:r>
          </a:p>
          <a:p>
            <a:r>
              <a:rPr lang="en-SE" sz="1100" dirty="0"/>
              <a:t>If cancel is rejected (past/within 1 hour), reserve must reflect the correct slots.</a:t>
            </a:r>
          </a:p>
          <a:p>
            <a:r>
              <a:rPr lang="en-SE" sz="1100" dirty="0"/>
              <a:t>3. Rapid repeated toggles (flapping)</a:t>
            </a:r>
          </a:p>
          <a:p>
            <a:endParaRPr lang="en-SE" sz="1100" dirty="0"/>
          </a:p>
          <a:p>
            <a:r>
              <a:rPr lang="en-SE" sz="1100" dirty="0"/>
              <a:t>Rapidly alternate reserve and cancel (multiple clients) to try to force off‑by‑one or negative values.</a:t>
            </a:r>
          </a:p>
          <a:p>
            <a:r>
              <a:rPr lang="en-SE" sz="1100" dirty="0"/>
              <a:t>Expectation: remainingSlots stays within [0, capacity] and UI converges (within the 1s UI update NFR) to the correct state.</a:t>
            </a:r>
          </a:p>
          <a:p>
            <a:r>
              <a:rPr lang="en-SE" sz="1100" dirty="0"/>
              <a:t>4. Same‑user multi‑tab / stale UI</a:t>
            </a:r>
          </a:p>
          <a:p>
            <a:endParaRPr lang="en-SE" sz="1100" dirty="0"/>
          </a:p>
          <a:p>
            <a:r>
              <a:rPr lang="en-SE" sz="1100" dirty="0"/>
              <a:t>Same User ID in two tabs: reserve in tab A, reserve in tab B (or cancel in one tab). Because data is in‑memory and UI refresh rules apply, test whether tab B’s view becomes stale or allows invalid actions. Assert actions are disabled when no User ID is set and that the message area shows correct errors/successes.</a:t>
            </a:r>
          </a:p>
          <a:p>
            <a:r>
              <a:rPr lang="en-SE" sz="1100" dirty="0"/>
              <a:t>5. Admin edits during concurrent actions</a:t>
            </a:r>
          </a:p>
          <a:p>
            <a:endParaRPr lang="en-SE" sz="1100" dirty="0"/>
          </a:p>
          <a:p>
            <a:r>
              <a:rPr lang="en-SE" sz="1100" dirty="0"/>
              <a:t>Admin increases/decreases capacity or overrides status while users try to reserve/cancel.</a:t>
            </a:r>
          </a:p>
          <a:p>
            <a:r>
              <a:rPr lang="en-SE" sz="1100" dirty="0"/>
              <a:t>Expectation: edits should propagate to both panels and invariants must hold (no negative slots, reservedCount consistent).</a:t>
            </a:r>
          </a:p>
          <a:p>
            <a:r>
              <a:rPr lang="en-SE" sz="1100" dirty="0"/>
              <a:t>6. Time‑window edge cases</a:t>
            </a:r>
          </a:p>
          <a:p>
            <a:endParaRPr lang="en-SE" sz="1100" dirty="0"/>
          </a:p>
          <a:p>
            <a:r>
              <a:rPr lang="en-SE" sz="1100" dirty="0"/>
              <a:t>Cancel attempts exactly at the 1‑hour cutoff, or with client clocks intentionally skewed. Because the system uses client local clock, test different client clock offsets to see whether inconsistent outcomes occur.</a:t>
            </a:r>
          </a:p>
          <a:p>
            <a:r>
              <a:rPr lang="en-SE" sz="1100" dirty="0"/>
              <a:t>D. Checks, oracles, and instrumentation to add to tests</a:t>
            </a:r>
          </a:p>
          <a:p>
            <a:endParaRPr lang="en-SE" sz="1100" dirty="0"/>
          </a:p>
          <a:p>
            <a:r>
              <a:rPr lang="en-SE" sz="1100" dirty="0"/>
              <a:t>Conservation oracle: capacity == remainingSlots + countOfReservationsForClass. Check after every concurrent operation. This will detect lost updates or double‑bookings quickly.</a:t>
            </a:r>
          </a:p>
          <a:p>
            <a:r>
              <a:rPr lang="en-SE" sz="1100" dirty="0"/>
              <a:t>Non‑negative oracle: assert remainingSlots &gt;= 0 and &lt;= capacity.</a:t>
            </a:r>
          </a:p>
          <a:p>
            <a:r>
              <a:rPr lang="en-SE" sz="1100" dirty="0"/>
              <a:t>Ownership oracle: a cancellation results in removal only when UserID matches; otherwise reject.</a:t>
            </a:r>
          </a:p>
          <a:p>
            <a:r>
              <a:rPr lang="en-SE" sz="1100" dirty="0"/>
              <a:t>UI sync oracle: after an operation, both panels and the status badge must reflect the change within the UI update SLA (1s). Report inconsistencies as errors.</a:t>
            </a:r>
          </a:p>
          <a:p>
            <a:r>
              <a:rPr lang="en-SE" sz="1100" dirty="0"/>
              <a:t>Error message oracle: rejected operations must return a clear error indicating the rule violated (full class / past class / within 1 hour / not owner).</a:t>
            </a:r>
          </a:p>
          <a:p>
            <a:r>
              <a:rPr lang="en-SE" sz="1100" dirty="0"/>
              <a:t>E. Cross‑domain associations &amp; test heuristics (quick inspiration)</a:t>
            </a:r>
          </a:p>
          <a:p>
            <a:endParaRPr lang="en-SE" sz="1100" dirty="0"/>
          </a:p>
          <a:p>
            <a:r>
              <a:rPr lang="en-SE" sz="1100" dirty="0"/>
              <a:t>Treat seats like bank balances: reservations are withdrawals and cancellations are deposits — look for lost updates and race conditions identical to concurrent debit/credit bugs. Use a “ledger” invariant (sum of balances) to detect errors.</a:t>
            </a:r>
          </a:p>
          <a:p>
            <a:r>
              <a:rPr lang="en-SE" sz="1100" dirty="0"/>
              <a:t>Think of it like semaphore tokens: acquiring a token (reserve) must be atomic; releasing (cancel) returns it. Test acquire/release sequences under contention.</a:t>
            </a:r>
          </a:p>
          <a:p>
            <a:r>
              <a:rPr lang="en-SE" sz="1100" dirty="0"/>
              <a:t>F. Practical tips for executing tests</a:t>
            </a:r>
          </a:p>
          <a:p>
            <a:endParaRPr lang="en-SE" sz="1100" dirty="0"/>
          </a:p>
          <a:p>
            <a:r>
              <a:rPr lang="en-SE" sz="1100" dirty="0"/>
              <a:t>Use separate browser processes/containers to simulate independent client clocks and memory spaces (important because constraints say logic runs client‑side, in‑memory).</a:t>
            </a:r>
          </a:p>
          <a:p>
            <a:r>
              <a:rPr lang="en-SE" sz="1100" dirty="0"/>
              <a:t>Introduce synthetic delays in the action handlers (or in your test harness) to widen the concurrency window and expose races.</a:t>
            </a:r>
          </a:p>
          <a:p>
            <a:r>
              <a:rPr lang="en-SE" sz="1100" dirty="0"/>
              <a:t>Log/timestamp every action (with client clock and test‑harness clock) so you can reconstruct orderings when a failure appears.</a:t>
            </a:r>
          </a:p>
          <a:p>
            <a:r>
              <a:rPr lang="en-SE" sz="1100" dirty="0"/>
              <a:t>Run many randomized repeats (fuzzing): random user IDs, random small delays, admin edits interleaved. Race bugs are often probabilistic.</a:t>
            </a:r>
          </a:p>
          <a:p>
            <a:r>
              <a:rPr lang="en-SE" sz="1100" dirty="0"/>
              <a:t>If you want, I can:</a:t>
            </a:r>
          </a:p>
          <a:p>
            <a:endParaRPr lang="en-SE" sz="1100" dirty="0"/>
          </a:p>
          <a:p>
            <a:r>
              <a:rPr lang="en-SE" sz="1100" dirty="0"/>
              <a:t>Draft a short checklist of concrete step‑by‑step test scripts for the top 6 scenarios above, or</a:t>
            </a:r>
          </a:p>
          <a:p>
            <a:r>
              <a:rPr lang="en-SE" sz="1100" dirty="0"/>
              <a:t>Produce a small test harness script outline (how to run parallel browser sessions or use puppeteer/playwright to provoke races).</a:t>
            </a:r>
          </a:p>
          <a:p>
            <a:r>
              <a:rPr lang="en-SE" sz="1100" dirty="0"/>
              <a:t>Which would help you most right now?</a:t>
            </a:r>
          </a:p>
        </p:txBody>
      </p:sp>
      <p:sp>
        <p:nvSpPr>
          <p:cNvPr id="3" name="TextBox 2">
            <a:extLst>
              <a:ext uri="{FF2B5EF4-FFF2-40B4-BE49-F238E27FC236}">
                <a16:creationId xmlns:a16="http://schemas.microsoft.com/office/drawing/2014/main" id="{BFEA5F98-B0BF-1A1D-E326-AE37C49E63CA}"/>
              </a:ext>
            </a:extLst>
          </p:cNvPr>
          <p:cNvSpPr txBox="1"/>
          <p:nvPr/>
        </p:nvSpPr>
        <p:spPr>
          <a:xfrm>
            <a:off x="8570167" y="815724"/>
            <a:ext cx="6167534" cy="400110"/>
          </a:xfrm>
          <a:prstGeom prst="rect">
            <a:avLst/>
          </a:prstGeom>
          <a:noFill/>
        </p:spPr>
        <p:txBody>
          <a:bodyPr wrap="square">
            <a:spAutoFit/>
          </a:bodyPr>
          <a:lstStyle/>
          <a:p>
            <a:r>
              <a:rPr lang="en-US" sz="2000" dirty="0"/>
              <a:t>(baseline) </a:t>
            </a:r>
            <a:r>
              <a:rPr lang="en-US" sz="2000" b="1" i="0" dirty="0">
                <a:solidFill>
                  <a:srgbClr val="1F2328"/>
                </a:solidFill>
                <a:effectLst/>
                <a:latin typeface="-apple-system"/>
              </a:rPr>
              <a:t>ec-brainstormer-1</a:t>
            </a:r>
            <a:endParaRPr lang="en-US" sz="2000" dirty="0"/>
          </a:p>
        </p:txBody>
      </p:sp>
      <p:sp>
        <p:nvSpPr>
          <p:cNvPr id="4" name="TextBox 3">
            <a:extLst>
              <a:ext uri="{FF2B5EF4-FFF2-40B4-BE49-F238E27FC236}">
                <a16:creationId xmlns:a16="http://schemas.microsoft.com/office/drawing/2014/main" id="{A833D693-E7A7-15FC-2276-920F863E9D88}"/>
              </a:ext>
            </a:extLst>
          </p:cNvPr>
          <p:cNvSpPr txBox="1"/>
          <p:nvPr/>
        </p:nvSpPr>
        <p:spPr>
          <a:xfrm>
            <a:off x="9533877" y="3572702"/>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8AB8ECC-1B27-BA8B-4D42-48BA257BF03A}"/>
              </a:ext>
            </a:extLst>
          </p:cNvPr>
          <p:cNvSpPr txBox="1"/>
          <p:nvPr/>
        </p:nvSpPr>
        <p:spPr>
          <a:xfrm>
            <a:off x="9533877" y="3050751"/>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857F3B8-79D2-F2D4-0FDA-B85932A9B6BF}"/>
              </a:ext>
            </a:extLst>
          </p:cNvPr>
          <p:cNvSpPr txBox="1"/>
          <p:nvPr/>
        </p:nvSpPr>
        <p:spPr>
          <a:xfrm>
            <a:off x="9533878" y="3321278"/>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81E6244F-2224-B331-AC0A-C0DF4FA468ED}"/>
              </a:ext>
            </a:extLst>
          </p:cNvPr>
          <p:cNvSpPr txBox="1"/>
          <p:nvPr/>
        </p:nvSpPr>
        <p:spPr>
          <a:xfrm>
            <a:off x="9533877" y="3824126"/>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4763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2D6A-8741-F1C7-6266-1BB091CADE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C813EBE-F60C-4B47-077C-8DCC6A855023}"/>
              </a:ext>
            </a:extLst>
          </p:cNvPr>
          <p:cNvSpPr txBox="1"/>
          <p:nvPr/>
        </p:nvSpPr>
        <p:spPr>
          <a:xfrm>
            <a:off x="0" y="-1583110"/>
            <a:ext cx="12192000" cy="14650164"/>
          </a:xfrm>
          <a:prstGeom prst="rect">
            <a:avLst/>
          </a:prstGeom>
          <a:noFill/>
        </p:spPr>
        <p:txBody>
          <a:bodyPr wrap="square">
            <a:spAutoFit/>
          </a:bodyPr>
          <a:lstStyle/>
          <a:p>
            <a:r>
              <a:rPr lang="en-SE" sz="1100"/>
              <a:t>@Brainstormer What are the core rules to follow or states to focus when test a race condition in a multi-user book/cancel situation?</a:t>
            </a:r>
          </a:p>
          <a:p>
            <a:endParaRPr lang="en-SE" sz="1100"/>
          </a:p>
          <a:p>
            <a:r>
              <a:rPr lang="en-SE" sz="1100">
                <a:solidFill>
                  <a:schemeClr val="accent2"/>
                </a:solidFill>
              </a:rPr>
              <a:t>Nice question — testing race conditions in book/cancel flows is exactly where bugs that break core invariants (like slot counts) hide. Your instinct to think in terms of “rules” and “states” is the right starting point.</a:t>
            </a:r>
          </a:p>
          <a:p>
            <a:endParaRPr lang="en-SE" sz="1100"/>
          </a:p>
          <a:p>
            <a:r>
              <a:rPr lang="en-SE" sz="1100"/>
              <a:t>Quick caveat from the spec first: this app is defined to run entirely client‑side with in‑memory data and no backend, and a page refresh resets state, so true multi‑process/shared‑database concurrency won’t exist unless you change the architecture. Keep that in mind when designing tests or simulating “multi‑user” behavior . Also note the business rules you must preserve: reservations cannot be created for full or past classes, cancellations are blocked within 1 hour of start, reservations are tied to the active User ID, and slot updates + status recalculation are required when reserving/cancelling .</a:t>
            </a:r>
          </a:p>
          <a:p>
            <a:endParaRPr lang="en-SE" sz="1100"/>
          </a:p>
          <a:p>
            <a:r>
              <a:rPr lang="en-SE" sz="1100"/>
              <a:t>Core rules to follow when testing race conditions</a:t>
            </a:r>
          </a:p>
          <a:p>
            <a:endParaRPr lang="en-SE" sz="1100"/>
          </a:p>
          <a:p>
            <a:r>
              <a:rPr lang="en-SE" sz="1100"/>
              <a:t>Preserve invariants (must never be violated):</a:t>
            </a:r>
          </a:p>
          <a:p>
            <a:r>
              <a:rPr lang="en-SE" sz="1100"/>
              <a:t>Remaining slots must never go negative and must reflect actual reservations (NFR-7) .</a:t>
            </a:r>
          </a:p>
          <a:p>
            <a:r>
              <a:rPr lang="en-SE" sz="1100"/>
              <a:t>A reservation must be stored with the creating User ID (FR-4) and cancellations must only remove that user’s reservation (BR-8) .</a:t>
            </a:r>
          </a:p>
          <a:p>
            <a:r>
              <a:rPr lang="en-SE" sz="1100"/>
              <a:t>Class status badges must be recalculated after any change (FR-24, FR-31) .</a:t>
            </a:r>
          </a:p>
          <a:p>
            <a:r>
              <a:rPr lang="en-SE" sz="1100"/>
              <a:t>Atomicity &amp; isolation expectations:</a:t>
            </a:r>
          </a:p>
          <a:p>
            <a:r>
              <a:rPr lang="en-SE" sz="1100"/>
              <a:t>Treat a reserve/cancel action as an atomic operation that either completes and updates slots/status, or is rejected and leaves state unchanged.</a:t>
            </a:r>
          </a:p>
          <a:p>
            <a:r>
              <a:rPr lang="en-SE" sz="1100"/>
              <a:t>Concurrent attempts affecting the same slot(s) must be resolved so only valid outcomes occur (e.g., two reserves for the last slot =&gt; one succeeds, the other is rejected).</a:t>
            </a:r>
          </a:p>
          <a:p>
            <a:r>
              <a:rPr lang="en-SE" sz="1100"/>
              <a:t>Validate business-rule guards at the moment of commit:</a:t>
            </a:r>
          </a:p>
          <a:p>
            <a:r>
              <a:rPr lang="en-SE" sz="1100"/>
              <a:t>Re-check “not full”, “not past”, “not within 1 hour”, and “user not double-booked/max reservations” when completing the operation, not just when initiating it (BR-1, BR-2, BR-3, BR-4, BR-6, BR-7) .</a:t>
            </a:r>
          </a:p>
          <a:p>
            <a:r>
              <a:rPr lang="en-SE" sz="1100"/>
              <a:t>Idempotency &amp; safe retries:</a:t>
            </a:r>
          </a:p>
          <a:p>
            <a:r>
              <a:rPr lang="en-SE" sz="1100"/>
              <a:t>The system should handle duplicate/near-duplicate requests (e.g., user double-clicking) without corrupting state (no double decrement).</a:t>
            </a:r>
          </a:p>
          <a:p>
            <a:r>
              <a:rPr lang="en-SE" sz="1100"/>
              <a:t>Clear failure semantics:</a:t>
            </a:r>
          </a:p>
          <a:p>
            <a:r>
              <a:rPr lang="en-SE" sz="1100"/>
              <a:t>When an action is rejected due to rules or contention, produce a clear error message and leave the system consistent (FR-25, FR-32) .</a:t>
            </a:r>
          </a:p>
          <a:p>
            <a:r>
              <a:rPr lang="en-SE" sz="1100"/>
              <a:t>States and transitions to focus on</a:t>
            </a:r>
          </a:p>
          <a:p>
            <a:endParaRPr lang="en-SE" sz="1100"/>
          </a:p>
          <a:p>
            <a:r>
              <a:rPr lang="en-SE" sz="1100"/>
              <a:t>Key states for a class/reservation:</a:t>
            </a:r>
          </a:p>
          <a:p>
            <a:r>
              <a:rPr lang="en-SE" sz="1100"/>
              <a:t>Class: Available (slots&gt;0), Full (slots=0), Starting Soon (within 1 hour), Past (start &lt; now) .</a:t>
            </a:r>
          </a:p>
          <a:p>
            <a:r>
              <a:rPr lang="en-SE" sz="1100"/>
              <a:t>Reservation: Pending/in-flight (operation in progress), Confirmed, Cancelled, Rejected.</a:t>
            </a:r>
          </a:p>
          <a:p>
            <a:r>
              <a:rPr lang="en-SE" sz="1100"/>
              <a:t>Transitions to watch carefully:</a:t>
            </a:r>
          </a:p>
          <a:p>
            <a:r>
              <a:rPr lang="en-SE" sz="1100"/>
              <a:t>Available -&gt; Full (concurrent reserves on last slot).</a:t>
            </a:r>
          </a:p>
          <a:p>
            <a:r>
              <a:rPr lang="en-SE" sz="1100"/>
              <a:t>Full -&gt; Available (concurrent cancel + reserve race).</a:t>
            </a:r>
          </a:p>
          <a:p>
            <a:r>
              <a:rPr lang="en-SE" sz="1100"/>
              <a:t>Confirmed -&gt; Cancelled (user cancels while another user is trying to reserve).</a:t>
            </a:r>
          </a:p>
          <a:p>
            <a:r>
              <a:rPr lang="en-SE" sz="1100"/>
              <a:t>Any state -&gt; Past/StartingSoon (when time boundary crosses; combined with in-flight ops) — note system uses client clock for these computations (C-3) .</a:t>
            </a:r>
          </a:p>
          <a:p>
            <a:r>
              <a:rPr lang="en-SE" sz="1100"/>
              <a:t>Concrete race test scenarios (what to do and what to assert)</a:t>
            </a:r>
          </a:p>
          <a:p>
            <a:endParaRPr lang="en-SE" sz="1100"/>
          </a:p>
          <a:p>
            <a:r>
              <a:rPr lang="en-SE" sz="1100"/>
              <a:t>Two users reserve the last slot (remaining slots = 1)</a:t>
            </a:r>
          </a:p>
          <a:p>
            <a:r>
              <a:rPr lang="en-SE" sz="1100"/>
              <a:t>Steps: Set User A and User B in two clients (or simulate sequentially but tightly timed). Both click Reserve near-simultaneously.</a:t>
            </a:r>
          </a:p>
          <a:p>
            <a:r>
              <a:rPr lang="en-SE" sz="1100"/>
              <a:t>Expect: Exactly one reservation created, remaining slots = 0, class status = Full, the losing request shows a rejection explaining class is full. Invariants hold (no negative slots).</a:t>
            </a:r>
          </a:p>
          <a:p>
            <a:r>
              <a:rPr lang="en-SE" sz="1100"/>
              <a:t>Spec tie-ins: remaining slots update and status recalculation on accepted reservation (FR-24), cannot reserve when slots=0 (BR-2) .</a:t>
            </a:r>
          </a:p>
          <a:p>
            <a:r>
              <a:rPr lang="en-SE" sz="1100"/>
              <a:t>Cancel vs Reserve racing on single freed slot</a:t>
            </a:r>
          </a:p>
          <a:p>
            <a:r>
              <a:rPr lang="en-SE" sz="1100"/>
              <a:t>Steps: Class is Full. User A cancels, User B issues Reserve at approximately same time.</a:t>
            </a:r>
          </a:p>
          <a:p>
            <a:r>
              <a:rPr lang="en-SE" sz="1100"/>
              <a:t>Expect: Either (a) cancel completes then reserve consumes the freed slot (ending Full or Available depending on count), or (b) reserve completes then cancel still increases remaining slots by 1 (but not beyond capacity) — but overall seat counts and reservation lists must stay consistent and not allow duplication. Decide desired tie-breaker and assert it.</a:t>
            </a:r>
          </a:p>
          <a:p>
            <a:r>
              <a:rPr lang="en-SE" sz="1100"/>
              <a:t>Assert: No negative slots; reservation ownership remains correct; UI panels refresh to reflect changes (FR-31).</a:t>
            </a:r>
          </a:p>
          <a:p>
            <a:r>
              <a:rPr lang="en-SE" sz="1100"/>
              <a:t>Double cancel or double reserve from same user (duplicate submissions)</a:t>
            </a:r>
          </a:p>
          <a:p>
            <a:r>
              <a:rPr lang="en-SE" sz="1100"/>
              <a:t>Steps: Click Cancel twice (or send duplicate reserve requests).</a:t>
            </a:r>
          </a:p>
          <a:p>
            <a:r>
              <a:rPr lang="en-SE" sz="1100"/>
              <a:t>Expect: Second attempt is rejected or no-op; no double cancellation/reservation; invariants preserved (no negative slots or duplicate reservation entries).</a:t>
            </a:r>
          </a:p>
          <a:p>
            <a:r>
              <a:rPr lang="en-SE" sz="1100"/>
              <a:t>Cancellation within 1-hour window vs simultaneous admin override</a:t>
            </a:r>
          </a:p>
          <a:p>
            <a:r>
              <a:rPr lang="en-SE" sz="1100"/>
              <a:t>Steps: Attempt cancel within 1 hour (should be rejected). Simultaneously admin overrides capacity/status.</a:t>
            </a:r>
          </a:p>
          <a:p>
            <a:r>
              <a:rPr lang="en-SE" sz="1100"/>
              <a:t>Expect: Business rule (BR-7) should block the cancel unless admin override explicitly allows it; verify admin actions propagate to panels (FR-31, FR-40) .</a:t>
            </a:r>
          </a:p>
          <a:p>
            <a:r>
              <a:rPr lang="en-SE" sz="1100"/>
              <a:t>Time boundary crossing with in-flight ops</a:t>
            </a:r>
          </a:p>
          <a:p>
            <a:r>
              <a:rPr lang="en-SE" sz="1100"/>
              <a:t>Steps: Start a reserve/cancel just before the 1-hour-before cutoff or class start, then move clock forward (or wait) so the class becomes Starting Soon/Past while the operation is in flight.</a:t>
            </a:r>
          </a:p>
          <a:p>
            <a:r>
              <a:rPr lang="en-SE" sz="1100"/>
              <a:t>Expect: The commit logic must check the current time at commit and enforce rules (e.g., reject cancel if now within 1 hour) — because spec uses client clock, test should simulate this (C-3) .</a:t>
            </a:r>
          </a:p>
          <a:p>
            <a:r>
              <a:rPr lang="en-SE" sz="1100"/>
              <a:t>Admin edits capacity while users reserve/cancel</a:t>
            </a:r>
          </a:p>
          <a:p>
            <a:r>
              <a:rPr lang="en-SE" sz="1100"/>
              <a:t>Steps: Admin increases/decreases capacity while multiple users attempt to reserve.</a:t>
            </a:r>
          </a:p>
          <a:p>
            <a:r>
              <a:rPr lang="en-SE" sz="1100"/>
              <a:t>Expect: Capacity/remaining slots must stay consistent after edits; reservations should obey updated capacity and status recalculation must run (FR-35, FR-31) .</a:t>
            </a:r>
          </a:p>
          <a:p>
            <a:r>
              <a:rPr lang="en-SE" sz="1100"/>
              <a:t>Cross‑domain ideas (to inspire mechanisms &amp; tests)</a:t>
            </a:r>
          </a:p>
          <a:p>
            <a:endParaRPr lang="en-SE" sz="1100"/>
          </a:p>
          <a:p>
            <a:r>
              <a:rPr lang="en-SE" sz="1100"/>
              <a:t>Optimistic concurrency (version/check‑and‑set): treat reserve/cancel as compare-and-swap on a class version — simulate races where the version has changed and assert the operation fails and is retried.</a:t>
            </a:r>
          </a:p>
          <a:p>
            <a:r>
              <a:rPr lang="en-SE" sz="1100"/>
              <a:t>Transactional/lock semantics: think like a DB transaction — test atomic commit/rollback behaviors by aborting mid-action in tests.</a:t>
            </a:r>
          </a:p>
          <a:p>
            <a:r>
              <a:rPr lang="en-SE" sz="1100"/>
              <a:t>Idempotency tokens: emulate duplicate client requests and ensure server/client logic is idempotent.</a:t>
            </a:r>
          </a:p>
          <a:p>
            <a:r>
              <a:rPr lang="en-SE" sz="1100"/>
              <a:t>Event sourcing: record events (ReserveRequested, ReserveConfirmed, CancelRequested, CancelConfirmed) and assert that event replay yields the same final state. These bring useful test heuristics: inject delay between “check” and “commit” to provoke TOCTOU (time of check to time of use) races; assert socket/logged events show intended order.</a:t>
            </a:r>
          </a:p>
          <a:p>
            <a:r>
              <a:rPr lang="en-SE" sz="1100"/>
              <a:t>Practical hints for running tests</a:t>
            </a:r>
          </a:p>
          <a:p>
            <a:endParaRPr lang="en-SE" sz="1100"/>
          </a:p>
          <a:p>
            <a:r>
              <a:rPr lang="en-SE" sz="1100"/>
              <a:t>If app is truly client-only, simulate multi-user by running multiple browser instances or automating sequences that interleave actions with controlled delays.</a:t>
            </a:r>
          </a:p>
          <a:p>
            <a:r>
              <a:rPr lang="en-SE" sz="1100"/>
              <a:t>Instrument timestamps and a small test harness that can repeatedly try concurrent sequences to increase chance of hitting races.</a:t>
            </a:r>
          </a:p>
          <a:p>
            <a:r>
              <a:rPr lang="en-SE" sz="1100"/>
              <a:t>Log pre- and post-state snapshots for class (capacity, remaining slots, reservations list) and assert invariants after each scenario: (sum of current reservations) + remaining slots == capacity, remaining slots &gt;= 0, and no duplicate reservations for same user/time.</a:t>
            </a:r>
          </a:p>
          <a:p>
            <a:r>
              <a:rPr lang="en-SE" sz="1100"/>
              <a:t>Automate repeats and randomize timing (fuzz the interleaving) — race bugs are often intermittent.</a:t>
            </a:r>
          </a:p>
          <a:p>
            <a:r>
              <a:rPr lang="en-SE" sz="1100"/>
              <a:t>Watch for UI timing requirements (NFR-4) — UI updates should be visible within 1 second; verify the UI reflects backend/client state after each operation .</a:t>
            </a:r>
          </a:p>
          <a:p>
            <a:r>
              <a:rPr lang="en-SE" sz="1100"/>
              <a:t>Short checklist you can copy to tests</a:t>
            </a:r>
          </a:p>
          <a:p>
            <a:endParaRPr lang="en-SE" sz="1100"/>
          </a:p>
          <a:p>
            <a:r>
              <a:rPr lang="en-SE" sz="1100"/>
              <a:t>Re-check business rules at commit time (not just at button click) .</a:t>
            </a:r>
          </a:p>
          <a:p>
            <a:r>
              <a:rPr lang="en-SE" sz="1100"/>
              <a:t>Assert remaining slots never negative; recompute from reservations to confirm consistency (NFR-7) .</a:t>
            </a:r>
          </a:p>
          <a:p>
            <a:r>
              <a:rPr lang="en-SE" sz="1100"/>
              <a:t>Verify reservation ownership and that cancels affect only the owner (BR-8) .</a:t>
            </a:r>
          </a:p>
          <a:p>
            <a:r>
              <a:rPr lang="en-SE" sz="1100"/>
              <a:t>Verify status badges update whenever slots/reservations change (FR-24, FR-31) .</a:t>
            </a:r>
          </a:p>
          <a:p>
            <a:r>
              <a:rPr lang="en-SE" sz="1100"/>
              <a:t>Check messages for clear error/explanations on rejects (FR-25, FR-32) .</a:t>
            </a:r>
          </a:p>
          <a:p>
            <a:r>
              <a:rPr lang="en-SE" sz="1100"/>
              <a:t>If you want, I can:</a:t>
            </a:r>
          </a:p>
          <a:p>
            <a:endParaRPr lang="en-SE" sz="1100"/>
          </a:p>
          <a:p>
            <a:r>
              <a:rPr lang="en-SE" sz="1100"/>
              <a:t>Draft a small set of runnable automation scripts (Selenium / Playwright) that simulate the specific race cases above, or</a:t>
            </a:r>
          </a:p>
          <a:p>
            <a:r>
              <a:rPr lang="en-SE" sz="1100"/>
              <a:t>Map these scenarios to a concise test matrix with preconditions / steps / expected results / assertions.</a:t>
            </a:r>
          </a:p>
          <a:p>
            <a:r>
              <a:rPr lang="en-SE" sz="1100"/>
              <a:t>Which would help more right now?</a:t>
            </a:r>
            <a:endParaRPr lang="en-SE" sz="1100" dirty="0"/>
          </a:p>
        </p:txBody>
      </p:sp>
      <p:sp>
        <p:nvSpPr>
          <p:cNvPr id="3" name="TextBox 2">
            <a:extLst>
              <a:ext uri="{FF2B5EF4-FFF2-40B4-BE49-F238E27FC236}">
                <a16:creationId xmlns:a16="http://schemas.microsoft.com/office/drawing/2014/main" id="{E262BF2B-D3BE-7150-E19B-6934B8935019}"/>
              </a:ext>
            </a:extLst>
          </p:cNvPr>
          <p:cNvSpPr txBox="1"/>
          <p:nvPr/>
        </p:nvSpPr>
        <p:spPr>
          <a:xfrm>
            <a:off x="8570167" y="815724"/>
            <a:ext cx="6167534" cy="400110"/>
          </a:xfrm>
          <a:prstGeom prst="rect">
            <a:avLst/>
          </a:prstGeom>
          <a:noFill/>
        </p:spPr>
        <p:txBody>
          <a:bodyPr wrap="square">
            <a:spAutoFit/>
          </a:bodyPr>
          <a:lstStyle/>
          <a:p>
            <a:r>
              <a:rPr lang="en-US" sz="2000" dirty="0"/>
              <a:t>(baseline) </a:t>
            </a:r>
            <a:r>
              <a:rPr lang="en-US" sz="2000" b="1" i="0" dirty="0">
                <a:solidFill>
                  <a:srgbClr val="1F2328"/>
                </a:solidFill>
                <a:effectLst/>
                <a:latin typeface="-apple-system"/>
              </a:rPr>
              <a:t>ec-brainstormer-2</a:t>
            </a:r>
            <a:endParaRPr lang="en-US" sz="2000" dirty="0"/>
          </a:p>
        </p:txBody>
      </p:sp>
      <p:sp>
        <p:nvSpPr>
          <p:cNvPr id="4" name="TextBox 3">
            <a:extLst>
              <a:ext uri="{FF2B5EF4-FFF2-40B4-BE49-F238E27FC236}">
                <a16:creationId xmlns:a16="http://schemas.microsoft.com/office/drawing/2014/main" id="{196B4480-EFF1-EA24-2E03-0F835968A158}"/>
              </a:ext>
            </a:extLst>
          </p:cNvPr>
          <p:cNvSpPr txBox="1"/>
          <p:nvPr/>
        </p:nvSpPr>
        <p:spPr>
          <a:xfrm>
            <a:off x="9533877" y="3572702"/>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F48C964E-649C-16D6-75F2-719620CE1AF9}"/>
              </a:ext>
            </a:extLst>
          </p:cNvPr>
          <p:cNvSpPr txBox="1"/>
          <p:nvPr/>
        </p:nvSpPr>
        <p:spPr>
          <a:xfrm>
            <a:off x="9533877" y="3050751"/>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6E68D75-BEB4-C8BD-2937-661C829AB790}"/>
              </a:ext>
            </a:extLst>
          </p:cNvPr>
          <p:cNvSpPr txBox="1"/>
          <p:nvPr/>
        </p:nvSpPr>
        <p:spPr>
          <a:xfrm>
            <a:off x="9533878" y="3321278"/>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0384F90-1CBC-8B97-D4A8-70B8FEB6632A}"/>
              </a:ext>
            </a:extLst>
          </p:cNvPr>
          <p:cNvSpPr txBox="1"/>
          <p:nvPr/>
        </p:nvSpPr>
        <p:spPr>
          <a:xfrm>
            <a:off x="9533877" y="3824126"/>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154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7CC55-0D69-1604-6D57-E799FB2CCC5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A0859-C799-5F8C-F58E-A295AA300E08}"/>
              </a:ext>
            </a:extLst>
          </p:cNvPr>
          <p:cNvSpPr txBox="1"/>
          <p:nvPr/>
        </p:nvSpPr>
        <p:spPr>
          <a:xfrm>
            <a:off x="0" y="-1583110"/>
            <a:ext cx="11029104" cy="16004381"/>
          </a:xfrm>
          <a:prstGeom prst="rect">
            <a:avLst/>
          </a:prstGeom>
          <a:noFill/>
        </p:spPr>
        <p:txBody>
          <a:bodyPr wrap="square">
            <a:spAutoFit/>
          </a:bodyPr>
          <a:lstStyle/>
          <a:p>
            <a:r>
              <a:rPr lang="en-SE" sz="1100"/>
              <a:t>@AssumptionBuster I’m keeping both panels visible, switching users (admin and normal user) around and do cancel then flip filters and sort to see if reservation state leaks. What invariants should I check to confirm whether any stale state is persisting and how can I avoid false alarms?</a:t>
            </a:r>
          </a:p>
          <a:p>
            <a:endParaRPr lang="en-SE" sz="1100"/>
          </a:p>
          <a:p>
            <a:r>
              <a:rPr lang="en-SE" sz="1100"/>
              <a:t>Good — you’re already exercising a rich scenario. Below is a compact checklist of invariants to assert (what must always be true), concrete checks you can run after each action, and practical tips to avoid false alarms. I’ll finish with a divergent test idea and an adversarial challenge to your assumptions.</a:t>
            </a:r>
          </a:p>
          <a:p>
            <a:endParaRPr lang="en-SE" sz="1100"/>
          </a:p>
          <a:p>
            <a:r>
              <a:rPr lang="en-SE" sz="1100"/>
              <a:t>Key source requirements to keep in mind while testing:</a:t>
            </a:r>
          </a:p>
          <a:p>
            <a:endParaRPr lang="en-SE" sz="1100"/>
          </a:p>
          <a:p>
            <a:r>
              <a:rPr lang="en-SE" sz="1100"/>
              <a:t>The “My Reservations” panel must show only reservations for the active User ID and must refresh when the active user changes, when reservations are created/cancelled, or when class details change .</a:t>
            </a:r>
          </a:p>
          <a:p>
            <a:r>
              <a:rPr lang="en-SE" sz="1100"/>
              <a:t>Filters/search/ sort affect only the view (not underlying data) and sorting/filtering are deterministic; changing them must reapply both filter and sort to produce a consistent list .</a:t>
            </a:r>
          </a:p>
          <a:p>
            <a:r>
              <a:rPr lang="en-SE" sz="1100"/>
              <a:t>Cancellations must remove the reservation, increase remaining slots, update status badges, and refresh both panels .</a:t>
            </a:r>
          </a:p>
          <a:p>
            <a:r>
              <a:rPr lang="en-SE" sz="1100"/>
              <a:t>Filters/search state persists until explicitly changed; sort respects current filters/search .</a:t>
            </a:r>
          </a:p>
          <a:p>
            <a:r>
              <a:rPr lang="en-SE" sz="1100"/>
              <a:t>Client-side, in-memory app: page refresh resets all data; UI updates should complete within ~1s (so allow for short delays) .</a:t>
            </a:r>
          </a:p>
          <a:p>
            <a:r>
              <a:rPr lang="en-SE" sz="1100"/>
              <a:t>Invariants to assert (check these after each step in your scenario)</a:t>
            </a:r>
          </a:p>
          <a:p>
            <a:endParaRPr lang="en-SE" sz="1100"/>
          </a:p>
          <a:p>
            <a:r>
              <a:rPr lang="en-SE" sz="1100"/>
              <a:t>User-scoped invariants</a:t>
            </a:r>
          </a:p>
          <a:p>
            <a:r>
              <a:rPr lang="en-SE" sz="1100"/>
              <a:t>MyReservations contains only reservations whose reservation.userId == activeUserId. Verify every reservation card’s user association or ID tag. Requirement: FR-26 .</a:t>
            </a:r>
          </a:p>
          <a:p>
            <a:r>
              <a:rPr lang="en-SE" sz="1100"/>
              <a:t>When you switch active user, MyReservations is replaced with that user’s reservations (no remnants from previous user).</a:t>
            </a:r>
          </a:p>
          <a:p>
            <a:r>
              <a:rPr lang="en-SE" sz="1100"/>
              <a:t>2. Cancellation invariants</a:t>
            </a:r>
          </a:p>
          <a:p>
            <a:endParaRPr lang="en-SE" sz="1100"/>
          </a:p>
          <a:p>
            <a:r>
              <a:rPr lang="en-SE" sz="1100"/>
              <a:t>After a successful cancel: reservation is removed from MyReservations, the class.remainingSlots increases by 1, and class status recalculated (e.g., Full → Available). Requirement: FR-31 and FR-24 .</a:t>
            </a:r>
          </a:p>
          <a:p>
            <a:r>
              <a:rPr lang="en-SE" sz="1100"/>
              <a:t>Cancellation must be rejected for past classes or within 1 hour (if rejection occurs, UI shows an explicit error and nothing changes) .</a:t>
            </a:r>
          </a:p>
          <a:p>
            <a:r>
              <a:rPr lang="en-SE" sz="1100"/>
              <a:t>3. View/filter/sort invariants</a:t>
            </a:r>
          </a:p>
          <a:p>
            <a:endParaRPr lang="en-SE" sz="1100"/>
          </a:p>
          <a:p>
            <a:r>
              <a:rPr lang="en-SE" sz="1100"/>
              <a:t>Filters and search do not mutate underlying reservation/class data: they only affect what’s shown (BR-12) .</a:t>
            </a:r>
          </a:p>
          <a:p>
            <a:r>
              <a:rPr lang="en-SE" sz="1100"/>
              <a:t>After you flip filters or change sort order, the visible lists must match what you would compute by applying the same filter+sort to the canonical dataset (deterministic ordering required) .</a:t>
            </a:r>
          </a:p>
          <a:p>
            <a:r>
              <a:rPr lang="en-SE" sz="1100"/>
              <a:t>If a cancellation made a class become Available, it must appear in “Available Classes” according to current filters/sort rules (FR-20/FR-21) .</a:t>
            </a:r>
          </a:p>
          <a:p>
            <a:r>
              <a:rPr lang="en-SE" sz="1100"/>
              <a:t>4. Data consistency invariants</a:t>
            </a:r>
          </a:p>
          <a:p>
            <a:endParaRPr lang="en-SE" sz="1100"/>
          </a:p>
          <a:p>
            <a:r>
              <a:rPr lang="en-SE" sz="1100"/>
              <a:t>remainingSlots must never go negative and must equal capacity − count(reservations for that class) at all times (NFR-7, FR-24) .</a:t>
            </a:r>
          </a:p>
          <a:p>
            <a:r>
              <a:rPr lang="en-SE" sz="1100"/>
              <a:t>Business rules like max 3 future reservations, no double-booking, etc., must hold after any operation (BR-3, BR-4) .</a:t>
            </a:r>
          </a:p>
          <a:p>
            <a:r>
              <a:rPr lang="en-SE" sz="1100"/>
              <a:t>Concrete checks / test steps (minimal reproducible sequence)</a:t>
            </a:r>
          </a:p>
          <a:p>
            <a:endParaRPr lang="en-SE" sz="1100"/>
          </a:p>
          <a:p>
            <a:r>
              <a:rPr lang="en-SE" sz="1100"/>
              <a:t>Baseline snapshot</a:t>
            </a:r>
          </a:p>
          <a:p>
            <a:r>
              <a:rPr lang="en-SE" sz="1100"/>
              <a:t>Capture: activeUserId, MyReservations list (IDs+classIDs+timestamps), AvailableClasses list (IDs, remainingSlots, status badges), current filters and sort settings, UI message area text.</a:t>
            </a:r>
          </a:p>
          <a:p>
            <a:r>
              <a:rPr lang="en-SE" sz="1100"/>
              <a:t>2. Perform the action sequence you described:</a:t>
            </a:r>
          </a:p>
          <a:p>
            <a:endParaRPr lang="en-SE" sz="1100"/>
          </a:p>
          <a:p>
            <a:r>
              <a:rPr lang="en-SE" sz="1100"/>
              <a:t>Keep both panels visible.</a:t>
            </a:r>
          </a:p>
          <a:p>
            <a:r>
              <a:rPr lang="en-SE" sz="1100"/>
              <a:t>Set user = alice (regular), create/confirm a reservation X for class A.</a:t>
            </a:r>
          </a:p>
          <a:p>
            <a:r>
              <a:rPr lang="en-SE" sz="1100"/>
              <a:t>Set user = bob (admin or normal) — observe MyReservations updates (should not show X).</a:t>
            </a:r>
          </a:p>
          <a:p>
            <a:r>
              <a:rPr lang="en-SE" sz="1100"/>
              <a:t>As bob, perform a Cancel (or if you mean cancel while switching, follow your exact flow).</a:t>
            </a:r>
          </a:p>
          <a:p>
            <a:r>
              <a:rPr lang="en-SE" sz="1100"/>
              <a:t>Immediately flip filters and change sort.</a:t>
            </a:r>
          </a:p>
          <a:p>
            <a:r>
              <a:rPr lang="en-SE" sz="1100"/>
              <a:t>3. Post-action snapshot</a:t>
            </a:r>
          </a:p>
          <a:p>
            <a:endParaRPr lang="en-SE" sz="1100"/>
          </a:p>
          <a:p>
            <a:r>
              <a:rPr lang="en-SE" sz="1100"/>
              <a:t>Re-capture the same fields as baseline.</a:t>
            </a:r>
          </a:p>
          <a:p>
            <a:r>
              <a:rPr lang="en-SE" sz="1100"/>
              <a:t>4. Assertions</a:t>
            </a:r>
          </a:p>
          <a:p>
            <a:endParaRPr lang="en-SE" sz="1100"/>
          </a:p>
          <a:p>
            <a:r>
              <a:rPr lang="en-SE" sz="1100"/>
              <a:t>Reservation X no longer appears in any MyReservations (unless the active user is the owner and cancellation was rejected for legitimate rule).</a:t>
            </a:r>
          </a:p>
          <a:p>
            <a:r>
              <a:rPr lang="en-SE" sz="1100"/>
              <a:t>Class A.remainingSlots increased by 1 and status badge updated if needed.</a:t>
            </a:r>
          </a:p>
          <a:p>
            <a:r>
              <a:rPr lang="en-SE" sz="1100"/>
              <a:t>AvailableClasses list post-filter/sort is exactly the deterministic sorted/filtered view of the canonical dataset.</a:t>
            </a:r>
          </a:p>
          <a:p>
            <a:r>
              <a:rPr lang="en-SE" sz="1100"/>
              <a:t>No reservations from the previously active user remain visible when activeUserId is different.</a:t>
            </a:r>
          </a:p>
          <a:p>
            <a:r>
              <a:rPr lang="en-SE" sz="1100"/>
              <a:t>UI message area shows the success or rejection message for the cancel action.</a:t>
            </a:r>
          </a:p>
          <a:p>
            <a:r>
              <a:rPr lang="en-SE" sz="1100"/>
              <a:t>How to avoid false alarms (common pitfalls and mitigations)</a:t>
            </a:r>
          </a:p>
          <a:p>
            <a:endParaRPr lang="en-SE" sz="1100"/>
          </a:p>
          <a:p>
            <a:r>
              <a:rPr lang="en-SE" sz="1100"/>
              <a:t>Timing: UI updates are expected to be fast but may take up to NFR-4’s 1s. Wait a small grace interval (e.g., 1–1.5s) before asserting. The app is in-memory (no backend), so transient network latency is not a factor, but rendering or event-loop scheduling may delay updates .</a:t>
            </a:r>
          </a:p>
          <a:p>
            <a:r>
              <a:rPr lang="en-SE" sz="1100"/>
              <a:t>Filters hiding results: a reservation may be “missing” because current filters hide its class. When you see a missing item, first clear filters/search and re-check.</a:t>
            </a:r>
          </a:p>
          <a:p>
            <a:r>
              <a:rPr lang="en-SE" sz="1100"/>
              <a:t>Deterministic sort: compare canonical sets (IDs) rather than visual index positions to avoid false positives from sort-order changes; requirement guarantees deterministic ordering for same parameters .</a:t>
            </a:r>
          </a:p>
          <a:p>
            <a:r>
              <a:rPr lang="en-SE" sz="1100"/>
              <a:t>Cancellation failure vs. stale UI: if cancel is rejected by business rules, the UI should show a rejection message — treat that as expected behavior, not a leak. Check the message area and console for error messages .</a:t>
            </a:r>
          </a:p>
          <a:p>
            <a:r>
              <a:rPr lang="en-SE" sz="1100"/>
              <a:t>State reset on page reload: remember that a full page refresh resets all data (so don’t mix refreshes into the same test session) .</a:t>
            </a:r>
          </a:p>
          <a:p>
            <a:r>
              <a:rPr lang="en-SE" sz="1100"/>
              <a:t>Automation tips (if you automate checks)</a:t>
            </a:r>
          </a:p>
          <a:p>
            <a:endParaRPr lang="en-SE" sz="1100"/>
          </a:p>
          <a:p>
            <a:r>
              <a:rPr lang="en-SE" sz="1100"/>
              <a:t>Compare canonical object IDs and numeric counts rather than rendered text.</a:t>
            </a:r>
          </a:p>
          <a:p>
            <a:r>
              <a:rPr lang="en-SE" sz="1100"/>
              <a:t>Read in-memory data structures (if available via devtools or exposed test hooks) and assert invariants there; this avoids rendering/flakiness.</a:t>
            </a:r>
          </a:p>
          <a:p>
            <a:r>
              <a:rPr lang="en-SE" sz="1100"/>
              <a:t>If you must compare the DOM, normalize timestamps and strip transient message text before comparison.</a:t>
            </a:r>
          </a:p>
          <a:p>
            <a:r>
              <a:rPr lang="en-SE" sz="1100"/>
              <a:t>Use explicit waits for the “success” message or for a stable DOM snapshot (instead of blind timeouts).</a:t>
            </a:r>
          </a:p>
          <a:p>
            <a:r>
              <a:rPr lang="en-SE" sz="1100"/>
              <a:t>Divergent (reframing) suggestion — try the opposite hypothesis</a:t>
            </a:r>
          </a:p>
          <a:p>
            <a:endParaRPr lang="en-SE" sz="1100"/>
          </a:p>
          <a:p>
            <a:r>
              <a:rPr lang="en-SE" sz="1100"/>
              <a:t>Instead of assuming the stale state is caused by the view not refreshing, assume it’s caused by shared mutable data (global variables or event listeners) that incorrectly map reservations to the wrong user. Test this by creating two reservations for different users with easily distinguishable IDs, then switch roles rapidly and check whether the class.remainingSlots and reservation.userId mapping ever diverge. Also try running the exact sequence in two separate browser windows (same page) to see if cross-window/global leakage occurs.</a:t>
            </a:r>
          </a:p>
          <a:p>
            <a:r>
              <a:rPr lang="en-SE" sz="1100"/>
              <a:t>Adversarial feedback — challenge your current view</a:t>
            </a:r>
          </a:p>
          <a:p>
            <a:endParaRPr lang="en-SE" sz="1100"/>
          </a:p>
          <a:p>
            <a:r>
              <a:rPr lang="en-SE" sz="1100"/>
              <a:t>Counterarguments to “it’s a stale-state leak”:</a:t>
            </a:r>
          </a:p>
          <a:p>
            <a:r>
              <a:rPr lang="en-SE" sz="1100"/>
              <a:t>The UI might be intentionally hiding results due to active filters (not leaking state).</a:t>
            </a:r>
          </a:p>
          <a:p>
            <a:r>
              <a:rPr lang="en-SE" sz="1100"/>
              <a:t>The cancellation could have been rejected by a business rule (e.g., too late), so no state change should occur.</a:t>
            </a:r>
          </a:p>
          <a:p>
            <a:r>
              <a:rPr lang="en-SE" sz="1100"/>
              <a:t>You may be observing a rendering delay rather than stale memory; waiting briefly or checking the in-memory model can disambiguate.</a:t>
            </a:r>
          </a:p>
          <a:p>
            <a:r>
              <a:rPr lang="en-SE" sz="1100"/>
              <a:t>Quick questions to justify the leak hypothesis:</a:t>
            </a:r>
          </a:p>
          <a:p>
            <a:r>
              <a:rPr lang="en-SE" sz="1100">
                <a:solidFill>
                  <a:schemeClr val="accent2"/>
                </a:solidFill>
              </a:rPr>
              <a:t>What exact symptom makes you call it a “leak”? (e.g., wrong reservation owner shown, remainingSlots not matching count, or duplicate reservation)</a:t>
            </a:r>
          </a:p>
          <a:p>
            <a:r>
              <a:rPr lang="en-SE" sz="1100">
                <a:solidFill>
                  <a:schemeClr val="accent2"/>
                </a:solidFill>
              </a:rPr>
              <a:t>Do you see success/failure messages in the message area when you cancel?</a:t>
            </a:r>
          </a:p>
          <a:p>
            <a:r>
              <a:rPr lang="en-SE" sz="1100">
                <a:solidFill>
                  <a:schemeClr val="accent2"/>
                </a:solidFill>
              </a:rPr>
              <a:t>Do console errors appear when switching users or manipulating filters? Answering these will help narrow whether you need to chase a UI-render bug, a business-rule rejection, or a true memory leak/state-misassociation.</a:t>
            </a:r>
          </a:p>
          <a:p>
            <a:r>
              <a:rPr lang="en-SE" sz="1100"/>
              <a:t>If you want, I can:</a:t>
            </a:r>
          </a:p>
          <a:p>
            <a:endParaRPr lang="en-SE" sz="1100"/>
          </a:p>
          <a:p>
            <a:r>
              <a:rPr lang="en-SE" sz="1100"/>
              <a:t>Produce a short, automated test script (pseudo-code) that performs your exact sequence and asserts the invariants above, or</a:t>
            </a:r>
          </a:p>
          <a:p>
            <a:r>
              <a:rPr lang="en-SE" sz="1100"/>
              <a:t>Help you design a minimal repro (data setup + steps + expected vs actual) so you can file a clear bug report.</a:t>
            </a:r>
          </a:p>
          <a:p>
            <a:r>
              <a:rPr lang="en-SE" sz="1100"/>
              <a:t>Which do you prefer?</a:t>
            </a:r>
          </a:p>
        </p:txBody>
      </p:sp>
      <p:sp>
        <p:nvSpPr>
          <p:cNvPr id="3" name="TextBox 2">
            <a:extLst>
              <a:ext uri="{FF2B5EF4-FFF2-40B4-BE49-F238E27FC236}">
                <a16:creationId xmlns:a16="http://schemas.microsoft.com/office/drawing/2014/main" id="{D42909BD-9D1A-35C6-E58C-184C7158EEB9}"/>
              </a:ext>
            </a:extLst>
          </p:cNvPr>
          <p:cNvSpPr txBox="1"/>
          <p:nvPr/>
        </p:nvSpPr>
        <p:spPr>
          <a:xfrm>
            <a:off x="8570167" y="815724"/>
            <a:ext cx="6167534" cy="400110"/>
          </a:xfrm>
          <a:prstGeom prst="rect">
            <a:avLst/>
          </a:prstGeom>
          <a:noFill/>
        </p:spPr>
        <p:txBody>
          <a:bodyPr wrap="square">
            <a:spAutoFit/>
          </a:bodyPr>
          <a:lstStyle/>
          <a:p>
            <a:r>
              <a:rPr lang="en-US" sz="2000" dirty="0"/>
              <a:t>(baseline) </a:t>
            </a:r>
            <a:r>
              <a:rPr lang="en-US" sz="2000" b="1" i="0" dirty="0">
                <a:solidFill>
                  <a:srgbClr val="1F2328"/>
                </a:solidFill>
                <a:effectLst/>
                <a:latin typeface="-apple-system"/>
              </a:rPr>
              <a:t>ec-assumptionbuster-1</a:t>
            </a:r>
            <a:endParaRPr lang="en-US" sz="2000" dirty="0"/>
          </a:p>
        </p:txBody>
      </p:sp>
      <p:sp>
        <p:nvSpPr>
          <p:cNvPr id="2" name="TextBox 1">
            <a:extLst>
              <a:ext uri="{FF2B5EF4-FFF2-40B4-BE49-F238E27FC236}">
                <a16:creationId xmlns:a16="http://schemas.microsoft.com/office/drawing/2014/main" id="{A64542CB-283D-DD23-5DB1-A4CAC8487DAA}"/>
              </a:ext>
            </a:extLst>
          </p:cNvPr>
          <p:cNvSpPr txBox="1"/>
          <p:nvPr/>
        </p:nvSpPr>
        <p:spPr>
          <a:xfrm>
            <a:off x="10202836" y="4250863"/>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0018978-BE81-70B7-9C1B-A28DF927E484}"/>
              </a:ext>
            </a:extLst>
          </p:cNvPr>
          <p:cNvSpPr txBox="1"/>
          <p:nvPr/>
        </p:nvSpPr>
        <p:spPr>
          <a:xfrm>
            <a:off x="10202836" y="3907490"/>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892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AA1E9-ACB4-89E9-64D1-CDA9207742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1EB7FC-5863-4C8B-2ABE-C029EF080903}"/>
              </a:ext>
            </a:extLst>
          </p:cNvPr>
          <p:cNvSpPr txBox="1"/>
          <p:nvPr/>
        </p:nvSpPr>
        <p:spPr>
          <a:xfrm>
            <a:off x="0" y="-1583110"/>
            <a:ext cx="11029104" cy="14988719"/>
          </a:xfrm>
          <a:prstGeom prst="rect">
            <a:avLst/>
          </a:prstGeom>
          <a:noFill/>
        </p:spPr>
        <p:txBody>
          <a:bodyPr wrap="square">
            <a:spAutoFit/>
          </a:bodyPr>
          <a:lstStyle/>
          <a:p>
            <a:r>
              <a:rPr lang="en-SE" sz="1100"/>
              <a:t>@AssumptionBuster I’m keeping both panels visible, switching users (admin and normal user) around and do cancel then flip filters and sort to see if reservation state leaks. What invariants should I check to confirm whether any stale state is persisting and how can I avoid false alarms?</a:t>
            </a:r>
          </a:p>
          <a:p>
            <a:endParaRPr lang="en-SE" sz="1100"/>
          </a:p>
          <a:p>
            <a:r>
              <a:rPr lang="en-SE" sz="1100"/>
              <a:t>Good scope — you’re already exercising the likely leak-path (two visible panels + role switches + UI transforms). Below I give a compact checklist of concrete invariants to assert, practical test steps (so you can reproduce reliably), tips to avoid false positives, an exploratory (divergent) test angle to try, and an adversarial challenge you can use to sharpen the test.</a:t>
            </a:r>
          </a:p>
          <a:p>
            <a:endParaRPr lang="en-SE" sz="1100"/>
          </a:p>
          <a:p>
            <a:r>
              <a:rPr lang="en-SE" sz="1100"/>
              <a:t>Key requirements to ground these checks</a:t>
            </a:r>
          </a:p>
          <a:p>
            <a:endParaRPr lang="en-SE" sz="1100"/>
          </a:p>
          <a:p>
            <a:r>
              <a:rPr lang="en-SE" sz="1100"/>
              <a:t>The “My Reservations” panel must show only reservations for the active User ID and must refresh when the active user changes .</a:t>
            </a:r>
          </a:p>
          <a:p>
            <a:r>
              <a:rPr lang="en-SE" sz="1100"/>
              <a:t>Filters/sorts are view-only (must not modify underlying data) and must produce deterministic results for the same parameters .</a:t>
            </a:r>
          </a:p>
          <a:p>
            <a:r>
              <a:rPr lang="en-SE" sz="1100"/>
              <a:t>When a cancellation is accepted the reservation is removed, the class remaining slots increase by 1, and both panels refresh to reflect the change .</a:t>
            </a:r>
          </a:p>
          <a:p>
            <a:r>
              <a:rPr lang="en-SE" sz="1100"/>
              <a:t>The app is single-page and runs in-memory (so state lives client-side; a page reload resets data) — use that to your advantage for clean setup/teardown .</a:t>
            </a:r>
          </a:p>
          <a:p>
            <a:r>
              <a:rPr lang="en-SE" sz="1100"/>
              <a:t>Invariants to check (things that must always be true)</a:t>
            </a:r>
          </a:p>
          <a:p>
            <a:endParaRPr lang="en-SE" sz="1100"/>
          </a:p>
          <a:p>
            <a:r>
              <a:rPr lang="en-SE" sz="1100"/>
              <a:t>User-scoped reservation invariants</a:t>
            </a:r>
          </a:p>
          <a:p>
            <a:endParaRPr lang="en-SE" sz="1100"/>
          </a:p>
          <a:p>
            <a:r>
              <a:rPr lang="en-SE" sz="1100"/>
              <a:t>My Reservations contains exactly the set of reservations with userId == activeUserId. No reservation for a previous user should be visible after Set User / Role. (FR-26)</a:t>
            </a:r>
          </a:p>
          <a:p>
            <a:r>
              <a:rPr lang="en-SE" sz="1100"/>
              <a:t>The Cancel action only affects reservations that belong to the active user; cancel should be disabled or rejected for other users (BR-8)</a:t>
            </a:r>
          </a:p>
          <a:p>
            <a:r>
              <a:rPr lang="en-SE" sz="1100"/>
              <a:t>Capacity / class state invariants</a:t>
            </a:r>
          </a:p>
          <a:p>
            <a:endParaRPr lang="en-SE" sz="1100"/>
          </a:p>
          <a:p>
            <a:r>
              <a:rPr lang="en-SE" sz="1100"/>
              <a:t>After a successful cancel: class.remainingSlots increases by 1 and class.status is recalculated (e.g., Full→Available) and reflected in Available Classes. (FR-31, FR-24)</a:t>
            </a:r>
          </a:p>
          <a:p>
            <a:r>
              <a:rPr lang="en-SE" sz="1100"/>
              <a:t>remainingSlots never becomes negative (NFR-7)</a:t>
            </a:r>
          </a:p>
          <a:p>
            <a:r>
              <a:rPr lang="en-SE" sz="1100"/>
              <a:t>View consistency invariants</a:t>
            </a:r>
          </a:p>
          <a:p>
            <a:endParaRPr lang="en-SE" sz="1100"/>
          </a:p>
          <a:p>
            <a:r>
              <a:rPr lang="en-SE" sz="1100"/>
              <a:t>Changing filters or sort re-applies both and does not mutate reservation data (BR-12, BR-13). The view must be consistent with the active filter+sort parameters (FR-20/21)</a:t>
            </a:r>
          </a:p>
          <a:p>
            <a:r>
              <a:rPr lang="en-SE" sz="1100"/>
              <a:t>Admin panel visibility strictly follows role (only visible when admin authenticated) (BR-14)</a:t>
            </a:r>
          </a:p>
          <a:p>
            <a:r>
              <a:rPr lang="en-SE" sz="1100"/>
              <a:t>Timing / refresh invariants</a:t>
            </a:r>
          </a:p>
          <a:p>
            <a:endParaRPr lang="en-SE" sz="1100"/>
          </a:p>
          <a:p>
            <a:r>
              <a:rPr lang="en-SE" sz="1100"/>
              <a:t>UI updates (reserve/cancel/filter/sort/admin edits) must complete within the expected delay (the spec expects quick updates), so tests should allow for brief update windows rather than immediately failing (NFR-4)</a:t>
            </a:r>
          </a:p>
          <a:p>
            <a:r>
              <a:rPr lang="en-SE" sz="1100"/>
              <a:t>Concrete test steps (minimal, repeatable scenario)</a:t>
            </a:r>
          </a:p>
          <a:p>
            <a:endParaRPr lang="en-SE" sz="1100"/>
          </a:p>
          <a:p>
            <a:r>
              <a:rPr lang="en-SE" sz="1100"/>
              <a:t>Setup</a:t>
            </a:r>
          </a:p>
          <a:p>
            <a:r>
              <a:rPr lang="en-SE" sz="1100"/>
              <a:t>Start with a clean in-memory state (reload page). Use unique test User IDs (userA, userB) and known test class IDs where capacity is &gt; 0.</a:t>
            </a:r>
          </a:p>
          <a:p>
            <a:r>
              <a:rPr lang="en-SE" sz="1100"/>
              <a:t>Baseline capture</a:t>
            </a:r>
          </a:p>
          <a:p>
            <a:r>
              <a:rPr lang="en-SE" sz="1100"/>
              <a:t>As userA: reserve class X. Record: MyReservations list, AvailableClasses.remainingSlots for X, status badge.</a:t>
            </a:r>
          </a:p>
          <a:p>
            <a:r>
              <a:rPr lang="en-SE" sz="1100"/>
              <a:t>Switch role</a:t>
            </a:r>
          </a:p>
          <a:p>
            <a:r>
              <a:rPr lang="en-SE" sz="1100"/>
              <a:t>Set User → userB (regular). Assert MyReservations shows only userB reservations (empty unless you create one), and that class X.remainingSlots has the decremented value visible in AvailableClasses. (FR-26, FR-24)</a:t>
            </a:r>
          </a:p>
          <a:p>
            <a:r>
              <a:rPr lang="en-SE" sz="1100"/>
              <a:t>Reproduce the candidate leak</a:t>
            </a:r>
          </a:p>
          <a:p>
            <a:r>
              <a:rPr lang="en-SE" sz="1100"/>
              <a:t>While both panels visible, do: cancel (as userA) — for the bug you described you may need to simulate switching back and forth: a) Immediately flip filters (change type/instructor) and sort (asc/desc) after pressing Cancel, or b) Change the active user to admin and back, then reapply filters/sort.</a:t>
            </a:r>
          </a:p>
          <a:p>
            <a:r>
              <a:rPr lang="en-SE" sz="1100"/>
              <a:t>After UI settles, assert: MyReservations for active user contains the correct set; remainingSlots for class X equals baseline +1 if the cancel succeeded.</a:t>
            </a:r>
          </a:p>
          <a:p>
            <a:r>
              <a:rPr lang="en-SE" sz="1100"/>
              <a:t>Cross-checks (to reduce false positives)</a:t>
            </a:r>
          </a:p>
          <a:p>
            <a:r>
              <a:rPr lang="en-SE" sz="1100"/>
              <a:t>Check the in-memory model (if you have access to a JS console hook) or API of the SPA rather than only DOM text. The persistent model should match the UI.</a:t>
            </a:r>
          </a:p>
          <a:p>
            <a:r>
              <a:rPr lang="en-SE" sz="1100"/>
              <a:t>Reload the page: page reload must reflect the in-memory reset behaviour (if you re-created state intentionally, re-run setup) — because data is client-only C-1/C-2, reload is a deterministic reset to clear transient caches</a:t>
            </a:r>
          </a:p>
          <a:p>
            <a:r>
              <a:rPr lang="en-SE" sz="1100"/>
              <a:t>What to capture/assert (evidence)</a:t>
            </a:r>
          </a:p>
          <a:p>
            <a:endParaRPr lang="en-SE" sz="1100"/>
          </a:p>
          <a:p>
            <a:r>
              <a:rPr lang="en-SE" sz="1100"/>
              <a:t>Before/after screenshots of both panels, plus a small JSON snapshot of the in-memory reservations and class objects (class id, remainingSlots, reservation.userId, reservation.id).</a:t>
            </a:r>
          </a:p>
          <a:p>
            <a:r>
              <a:rPr lang="en-SE" sz="1100"/>
              <a:t>Timestamps of actions and time spent between action and UI change (to tolerate the allowed UI update latency). NFR says interactions should complete quickly — allow a small wait (e.g., up to 1s) before failing .</a:t>
            </a:r>
          </a:p>
          <a:p>
            <a:r>
              <a:rPr lang="en-SE" sz="1100"/>
              <a:t>Console logs or application state dumps (if available) showing the removal of the reservation and the slot increment.</a:t>
            </a:r>
          </a:p>
          <a:p>
            <a:r>
              <a:rPr lang="en-SE" sz="1100"/>
              <a:t>How to avoid false alarms</a:t>
            </a:r>
          </a:p>
          <a:p>
            <a:endParaRPr lang="en-SE" sz="1100"/>
          </a:p>
          <a:p>
            <a:r>
              <a:rPr lang="en-SE" sz="1100"/>
              <a:t>Deterministic test data: use unique User IDs and classes so you can identify cross-user leaks (no “shared” names).</a:t>
            </a:r>
          </a:p>
          <a:p>
            <a:r>
              <a:rPr lang="en-SE" sz="1100"/>
              <a:t>Wait for the UI to finish updating: the spec expects quick responses but not instantaneous — use an explicit wait or poll for the invariants up to a small timeout (e.g., 1s) rather than asserting immediately (NFR-4) .</a:t>
            </a:r>
          </a:p>
          <a:p>
            <a:r>
              <a:rPr lang="en-SE" sz="1100"/>
              <a:t>Compare model vs view: prefer asserting the app’s in-memory model or data structures when possible (less flaky than text scraping). Because this app is client-only, you can often access the model in the console or add a debug hook for tests (C-1/C-2) .</a:t>
            </a:r>
          </a:p>
          <a:p>
            <a:r>
              <a:rPr lang="en-SE" sz="1100"/>
              <a:t>Reset filters/sorts before a new scenario unless you’re explicitly testing filter persistence (FR-17 says filters maintain state until changed) — that avoids confusion where a reservation is hidden by filters, not leaked .</a:t>
            </a:r>
          </a:p>
          <a:p>
            <a:r>
              <a:rPr lang="en-SE" sz="1100"/>
              <a:t>Separate functional failures from UI rendering artifacts: e.g., if a reservation is removed in the model but the DOM lingers for a render frame, that’s a UI-timing artifact, not a data leak.</a:t>
            </a:r>
          </a:p>
          <a:p>
            <a:r>
              <a:rPr lang="en-SE" sz="1100"/>
              <a:t>Edge/race conditions to try (these are common leak triggers)</a:t>
            </a:r>
          </a:p>
          <a:p>
            <a:endParaRPr lang="en-SE" sz="1100"/>
          </a:p>
          <a:p>
            <a:r>
              <a:rPr lang="en-SE" sz="1100"/>
              <a:t>Cancel, then immediately change active user and flip filters/sort before the cancel promise resolves. Look for inconsistent state once async updates complete.</a:t>
            </a:r>
          </a:p>
          <a:p>
            <a:r>
              <a:rPr lang="en-SE" sz="1100"/>
              <a:t>Admin edits class capacity/status while a normal user is viewing and with filters applied. Edits should propagate to both panels (FR-39) .</a:t>
            </a:r>
          </a:p>
          <a:p>
            <a:r>
              <a:rPr lang="en-SE" sz="1100"/>
              <a:t>Rapidly toggle sort/filter repeatedly after cancel to see stale rendering under rapid reflows (tests for idempotence/determinism of filtering/sort BR-11/BR-13) .</a:t>
            </a:r>
          </a:p>
          <a:p>
            <a:r>
              <a:rPr lang="en-SE" sz="1100"/>
              <a:t>Divergent exploratory question (reframe / new angle)</a:t>
            </a:r>
          </a:p>
          <a:p>
            <a:endParaRPr lang="en-SE" sz="1100"/>
          </a:p>
          <a:p>
            <a:r>
              <a:rPr lang="en-SE" sz="1100"/>
              <a:t>Instead of switching the single active user, what if you simulated two independent views (e.g., two browser windows: one logged in as admin, one as a normal user) and performed cancel/reserve/sort/filter actions concurrently? Would the in-memory-only design cause conflicting local state or apparent leaks when you swap focus between windows? (This diverges from your single-page single-view approach and may reveal assumptions about single-session state.)</a:t>
            </a:r>
          </a:p>
          <a:p>
            <a:r>
              <a:rPr lang="en-SE" sz="1100"/>
              <a:t>Adversarial feedback / challenge (push back on assumptions)</a:t>
            </a:r>
          </a:p>
          <a:p>
            <a:endParaRPr lang="en-SE" sz="1100"/>
          </a:p>
          <a:p>
            <a:r>
              <a:rPr lang="en-SE" sz="1100"/>
              <a:t>Counterpoints to the hypothesis “visible panel + flip filters → leak”: it could be (a) a rendering/timing artifact where the model was updated but the DOM wasn’t yet re-rendered, (b) filters hiding/showing elements making it look like state moved, or (c) admin UI elements revealing data that are actually correct for admin (not a leak). </a:t>
            </a:r>
            <a:r>
              <a:rPr lang="en-SE" sz="1100">
                <a:solidFill>
                  <a:schemeClr val="accent2"/>
                </a:solidFill>
              </a:rPr>
              <a:t>Can you show model-level evidence (not just screenshots) that the reservation object still exists after cancel? If not, prioritize capturing the app’s internal data snapshot as evidence.</a:t>
            </a:r>
          </a:p>
          <a:p>
            <a:r>
              <a:rPr lang="en-SE" sz="1100">
                <a:solidFill>
                  <a:schemeClr val="accent2"/>
                </a:solidFill>
              </a:rPr>
              <a:t>Please justify: why do you assume the leak occurs only when both panels are visible? Could hidden-panel behaviour differ (e.g., stale virtual DOM nodes) — test both visible and hidden to be sure.</a:t>
            </a:r>
          </a:p>
          <a:p>
            <a:r>
              <a:rPr lang="en-SE" sz="1100"/>
              <a:t>If you want, I can:</a:t>
            </a:r>
          </a:p>
          <a:p>
            <a:endParaRPr lang="en-SE" sz="1100"/>
          </a:p>
          <a:p>
            <a:r>
              <a:rPr lang="en-SE" sz="1100"/>
              <a:t>produce a compact test script (step-by-step) you can paste into a test runner (Puppeteer / Playwright) that checks the invariants and captures model snapshots; or</a:t>
            </a:r>
          </a:p>
          <a:p>
            <a:r>
              <a:rPr lang="en-SE" sz="1100"/>
              <a:t>suggest exact assertions and wait strategies (polling interval + timeout) for your automation.</a:t>
            </a:r>
          </a:p>
          <a:p>
            <a:r>
              <a:rPr lang="en-SE" sz="1100"/>
              <a:t>Which would you prefer — a manual checklist you can copy into your test case management system, or an executable Playwright/Puppeteer skeleton that implements these checks?</a:t>
            </a:r>
          </a:p>
        </p:txBody>
      </p:sp>
      <p:sp>
        <p:nvSpPr>
          <p:cNvPr id="3" name="TextBox 2">
            <a:extLst>
              <a:ext uri="{FF2B5EF4-FFF2-40B4-BE49-F238E27FC236}">
                <a16:creationId xmlns:a16="http://schemas.microsoft.com/office/drawing/2014/main" id="{6A370346-F1E8-4DB0-79C9-EDB6B80B3999}"/>
              </a:ext>
            </a:extLst>
          </p:cNvPr>
          <p:cNvSpPr txBox="1"/>
          <p:nvPr/>
        </p:nvSpPr>
        <p:spPr>
          <a:xfrm>
            <a:off x="8570167" y="815724"/>
            <a:ext cx="6167534" cy="400110"/>
          </a:xfrm>
          <a:prstGeom prst="rect">
            <a:avLst/>
          </a:prstGeom>
          <a:noFill/>
        </p:spPr>
        <p:txBody>
          <a:bodyPr wrap="square">
            <a:spAutoFit/>
          </a:bodyPr>
          <a:lstStyle/>
          <a:p>
            <a:r>
              <a:rPr lang="en-US" sz="2000" dirty="0"/>
              <a:t>(baseline) </a:t>
            </a:r>
            <a:r>
              <a:rPr lang="en-US" sz="2000" b="1" i="0" dirty="0">
                <a:solidFill>
                  <a:srgbClr val="1F2328"/>
                </a:solidFill>
                <a:effectLst/>
                <a:latin typeface="-apple-system"/>
              </a:rPr>
              <a:t>ec-assumptionbuster-2</a:t>
            </a:r>
            <a:endParaRPr lang="en-US" sz="2000" dirty="0"/>
          </a:p>
        </p:txBody>
      </p:sp>
      <p:sp>
        <p:nvSpPr>
          <p:cNvPr id="2" name="TextBox 1">
            <a:extLst>
              <a:ext uri="{FF2B5EF4-FFF2-40B4-BE49-F238E27FC236}">
                <a16:creationId xmlns:a16="http://schemas.microsoft.com/office/drawing/2014/main" id="{AC7EB7B9-856F-C107-00C9-F86C0EB6ACDC}"/>
              </a:ext>
            </a:extLst>
          </p:cNvPr>
          <p:cNvSpPr txBox="1"/>
          <p:nvPr/>
        </p:nvSpPr>
        <p:spPr>
          <a:xfrm>
            <a:off x="10202836" y="4250863"/>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96B821E-41C9-1B7B-0CBB-A58B4E827F0B}"/>
              </a:ext>
            </a:extLst>
          </p:cNvPr>
          <p:cNvSpPr txBox="1"/>
          <p:nvPr/>
        </p:nvSpPr>
        <p:spPr>
          <a:xfrm>
            <a:off x="10202836" y="3907490"/>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9461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3991-3FBF-0F6D-DF3B-AAF2E0EABE77}"/>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19F28441-14B8-DE77-8BE9-275E8BBBC470}"/>
              </a:ext>
            </a:extLst>
          </p:cNvPr>
          <p:cNvGrpSpPr/>
          <p:nvPr/>
        </p:nvGrpSpPr>
        <p:grpSpPr>
          <a:xfrm>
            <a:off x="721380" y="776375"/>
            <a:ext cx="2877226" cy="2483020"/>
            <a:chOff x="721380" y="776375"/>
            <a:chExt cx="2877226" cy="2483020"/>
          </a:xfrm>
        </p:grpSpPr>
        <p:sp>
          <p:nvSpPr>
            <p:cNvPr id="5" name="Rectangle 4">
              <a:extLst>
                <a:ext uri="{FF2B5EF4-FFF2-40B4-BE49-F238E27FC236}">
                  <a16:creationId xmlns:a16="http://schemas.microsoft.com/office/drawing/2014/main" id="{005F4024-6F66-8DB1-D2DE-19DCD9AE2B36}"/>
                </a:ext>
              </a:extLst>
            </p:cNvPr>
            <p:cNvSpPr/>
            <p:nvPr/>
          </p:nvSpPr>
          <p:spPr>
            <a:xfrm>
              <a:off x="953110" y="776376"/>
              <a:ext cx="2645496" cy="24830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assumptions (inferred)</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Inferred logic: Rapid </a:t>
              </a:r>
              <a:r>
                <a:rPr lang="en-US" sz="800" dirty="0" err="1">
                  <a:solidFill>
                    <a:schemeClr val="tx1"/>
                  </a:solidFill>
                  <a:latin typeface="Calibri" panose="020F0502020204030204" pitchFamily="34" charset="0"/>
                  <a:cs typeface="Calibri" panose="020F0502020204030204" pitchFamily="34" charset="0"/>
                </a:rPr>
                <a:t>fill→cancel→reserve</a:t>
              </a:r>
              <a:r>
                <a:rPr lang="en-US" sz="800" dirty="0">
                  <a:solidFill>
                    <a:schemeClr val="tx1"/>
                  </a:solidFill>
                  <a:latin typeface="Calibri" panose="020F0502020204030204" pitchFamily="34" charset="0"/>
                  <a:cs typeface="Calibri" panose="020F0502020204030204" pitchFamily="34" charset="0"/>
                </a:rPr>
                <a:t> sequence will reveal lingering remaining-slots state.</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Implicit assumptions: UI updates are synchronous, state resets immediately, and no background reconciliation occurs.</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This assumes single-threaded execution and instantaneous DOM refreshes, which may be false.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That assumption conflicts with FR-8 and BR-2, which require accurate remaining-slots updates but do not guarantee update ordering or timing.</a:t>
              </a:r>
            </a:p>
            <a:p>
              <a:r>
                <a:rPr lang="en-US" sz="800" dirty="0">
                  <a:solidFill>
                    <a:schemeClr val="tx1"/>
                  </a:solidFill>
                  <a:latin typeface="Calibri" panose="020F0502020204030204" pitchFamily="34" charset="0"/>
                  <a:cs typeface="Calibri" panose="020F0502020204030204" pitchFamily="34" charset="0"/>
                </a:rPr>
                <a:t>Persona-based challenge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Attacker/concurrent-user lens: would rapid actions from multiple User IDs race to modify remaining slots?</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precise timing windows and UI events define "quickly" in the scenario?</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How is "remaining slots feels wrong" measured or observed, and what acceptable bounds exist?</a:t>
              </a:r>
              <a:endParaRPr lang="en-GB" sz="800" dirty="0">
                <a:solidFill>
                  <a:schemeClr val="accent2"/>
                </a:solidFill>
                <a:latin typeface="Calibri" panose="020F0502020204030204" pitchFamily="34" charset="0"/>
                <a:cs typeface="Calibri" panose="020F0502020204030204" pitchFamily="34" charset="0"/>
              </a:endParaRPr>
            </a:p>
          </p:txBody>
        </p:sp>
        <p:pic>
          <p:nvPicPr>
            <p:cNvPr id="6" name="Graphic 5" descr="Robot with solid fill">
              <a:extLst>
                <a:ext uri="{FF2B5EF4-FFF2-40B4-BE49-F238E27FC236}">
                  <a16:creationId xmlns:a16="http://schemas.microsoft.com/office/drawing/2014/main" id="{196B4989-E33E-78F0-B52D-63FFD8DBED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1380" y="776375"/>
              <a:ext cx="231730" cy="210626"/>
            </a:xfrm>
            <a:prstGeom prst="rect">
              <a:avLst/>
            </a:prstGeom>
          </p:spPr>
        </p:pic>
      </p:grpSp>
      <p:grpSp>
        <p:nvGrpSpPr>
          <p:cNvPr id="7" name="Group 6">
            <a:extLst>
              <a:ext uri="{FF2B5EF4-FFF2-40B4-BE49-F238E27FC236}">
                <a16:creationId xmlns:a16="http://schemas.microsoft.com/office/drawing/2014/main" id="{1A91071C-19CF-5F88-B01E-3B6C8295EB69}"/>
              </a:ext>
            </a:extLst>
          </p:cNvPr>
          <p:cNvGrpSpPr/>
          <p:nvPr/>
        </p:nvGrpSpPr>
        <p:grpSpPr>
          <a:xfrm>
            <a:off x="734915" y="152587"/>
            <a:ext cx="2863691" cy="623787"/>
            <a:chOff x="7061689" y="106680"/>
            <a:chExt cx="3993502" cy="831715"/>
          </a:xfrm>
        </p:grpSpPr>
        <p:sp>
          <p:nvSpPr>
            <p:cNvPr id="8" name="Rectangle 7">
              <a:extLst>
                <a:ext uri="{FF2B5EF4-FFF2-40B4-BE49-F238E27FC236}">
                  <a16:creationId xmlns:a16="http://schemas.microsoft.com/office/drawing/2014/main" id="{6BE07478-F8CE-3B0F-B792-1560727E155E}"/>
                </a:ext>
              </a:extLst>
            </p:cNvPr>
            <p:cNvSpPr/>
            <p:nvPr/>
          </p:nvSpPr>
          <p:spPr>
            <a:xfrm>
              <a:off x="7366730" y="106680"/>
              <a:ext cx="3688461" cy="83171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trying to reproduce a ‘remaining slots feels wrong’ issue using fill → cancel → reserve quickly. List pitfalls, then suggest deeper paths to detect lingering state after transitions.</a:t>
              </a:r>
            </a:p>
          </p:txBody>
        </p:sp>
        <p:pic>
          <p:nvPicPr>
            <p:cNvPr id="9" name="Graphic 8" descr="Programmer female with solid fill">
              <a:extLst>
                <a:ext uri="{FF2B5EF4-FFF2-40B4-BE49-F238E27FC236}">
                  <a16:creationId xmlns:a16="http://schemas.microsoft.com/office/drawing/2014/main" id="{D9FE3683-E106-93FC-AFED-5818D595EB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61689" y="106680"/>
              <a:ext cx="280797" cy="280797"/>
            </a:xfrm>
            <a:prstGeom prst="rect">
              <a:avLst/>
            </a:prstGeom>
          </p:spPr>
        </p:pic>
      </p:grpSp>
      <p:sp>
        <p:nvSpPr>
          <p:cNvPr id="13" name="TextBox 12">
            <a:extLst>
              <a:ext uri="{FF2B5EF4-FFF2-40B4-BE49-F238E27FC236}">
                <a16:creationId xmlns:a16="http://schemas.microsoft.com/office/drawing/2014/main" id="{5F1B91E5-1A98-4D3C-533F-19A6556716E0}"/>
              </a:ext>
            </a:extLst>
          </p:cNvPr>
          <p:cNvSpPr txBox="1"/>
          <p:nvPr/>
        </p:nvSpPr>
        <p:spPr>
          <a:xfrm>
            <a:off x="3719975" y="3021828"/>
            <a:ext cx="1063112" cy="215444"/>
          </a:xfrm>
          <a:prstGeom prst="rect">
            <a:avLst/>
          </a:prstGeom>
          <a:noFill/>
          <a:ln w="12700">
            <a:noFill/>
            <a:prstDash val="dash"/>
          </a:ln>
        </p:spPr>
        <p:txBody>
          <a:bodyPr wrap="none" rtlCol="0">
            <a:spAutoFit/>
          </a:bodyPr>
          <a:lstStyle/>
          <a:p>
            <a:pPr algn="ctr"/>
            <a:r>
              <a:rPr lang="en-GB" sz="800" dirty="0">
                <a:latin typeface="Calibri" panose="020F0502020204030204" pitchFamily="34" charset="0"/>
                <a:cs typeface="Calibri" panose="020F0502020204030204" pitchFamily="34" charset="0"/>
              </a:rPr>
              <a:t>Divergent suggestion</a:t>
            </a:r>
            <a:endParaRPr lang="en-SE"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2C70A07-5FCB-DF3A-5234-F1A79B6EB9E8}"/>
              </a:ext>
            </a:extLst>
          </p:cNvPr>
          <p:cNvSpPr txBox="1"/>
          <p:nvPr/>
        </p:nvSpPr>
        <p:spPr>
          <a:xfrm>
            <a:off x="6746521" y="697021"/>
            <a:ext cx="4572000" cy="3416320"/>
          </a:xfrm>
          <a:prstGeom prst="rect">
            <a:avLst/>
          </a:prstGeom>
          <a:noFill/>
        </p:spPr>
        <p:txBody>
          <a:bodyPr wrap="square">
            <a:spAutoFit/>
          </a:bodyPr>
          <a:lstStyle/>
          <a:p>
            <a:r>
              <a:rPr lang="en-US" sz="7200" dirty="0">
                <a:hlinkClick r:id="rId6" tooltip="AM-assumption-buster-1">
                  <a:extLst>
                    <a:ext uri="{A12FA001-AC4F-418D-AE19-62706E023703}">
                      <ahyp:hlinkClr xmlns:ahyp="http://schemas.microsoft.com/office/drawing/2018/hyperlinkcolor" val="tx"/>
                    </a:ext>
                  </a:extLst>
                </a:hlinkClick>
              </a:rPr>
              <a:t>AM-assumption-buster-1</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668228E0-1AF3-0C82-4ABA-76645F62961C}"/>
              </a:ext>
            </a:extLst>
          </p:cNvPr>
          <p:cNvSpPr txBox="1"/>
          <p:nvPr/>
        </p:nvSpPr>
        <p:spPr>
          <a:xfrm>
            <a:off x="3719975" y="2678455"/>
            <a:ext cx="1060040" cy="215444"/>
          </a:xfrm>
          <a:prstGeom prst="rect">
            <a:avLst/>
          </a:prstGeom>
          <a:noFill/>
          <a:ln w="12700">
            <a:noFill/>
            <a:prstDash val="dash"/>
          </a:ln>
        </p:spPr>
        <p:txBody>
          <a:bodyPr wrap="square">
            <a:spAutoFit/>
          </a:bodyPr>
          <a:lstStyle/>
          <a:p>
            <a:pPr algn="ctr"/>
            <a:r>
              <a:rPr lang="en-GB" sz="800" dirty="0">
                <a:latin typeface="Calibri" panose="020F0502020204030204" pitchFamily="34" charset="0"/>
                <a:cs typeface="Calibri" panose="020F0502020204030204" pitchFamily="34" charset="0"/>
              </a:rPr>
              <a:t>Adversarial feedback</a:t>
            </a:r>
            <a:endParaRPr lang="en-SE"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3031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3453-DAD7-601C-2E20-0D70718E0D2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BEF0AD9-457F-6526-582B-B7F516CD42F0}"/>
              </a:ext>
            </a:extLst>
          </p:cNvPr>
          <p:cNvSpPr/>
          <p:nvPr/>
        </p:nvSpPr>
        <p:spPr>
          <a:xfrm>
            <a:off x="953110" y="776375"/>
            <a:ext cx="2645496" cy="26526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assumptions: </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a:t>
            </a:r>
            <a:r>
              <a:rPr lang="en-US" sz="800" dirty="0" err="1">
                <a:solidFill>
                  <a:schemeClr val="tx1"/>
                </a:solidFill>
                <a:latin typeface="Calibri" panose="020F0502020204030204" pitchFamily="34" charset="0"/>
                <a:cs typeface="Calibri" panose="020F0502020204030204" pitchFamily="34" charset="0"/>
              </a:rPr>
              <a:t>fill→cancel→reserve</a:t>
            </a:r>
            <a:r>
              <a:rPr lang="en-US" sz="800" dirty="0">
                <a:solidFill>
                  <a:schemeClr val="tx1"/>
                </a:solidFill>
                <a:latin typeface="Calibri" panose="020F0502020204030204" pitchFamily="34" charset="0"/>
                <a:cs typeface="Calibri" panose="020F0502020204030204" pitchFamily="34" charset="0"/>
              </a:rPr>
              <a:t> transitions will update remaining slots immediately and atomically. Underlying assumptions include synchronous in-memory state updates, single-threaded event ordering, and no optimistic UI drift.</a:t>
            </a:r>
          </a:p>
          <a:p>
            <a:r>
              <a:rPr lang="en-US" sz="800" dirty="0">
                <a:solidFill>
                  <a:schemeClr val="tx1"/>
                </a:solidFill>
                <a:latin typeface="Calibri" panose="020F0502020204030204" pitchFamily="34" charset="0"/>
                <a:cs typeface="Calibri" panose="020F0502020204030204" pitchFamily="34" charset="0"/>
              </a:rPr>
              <a:t>Adversarial critique — assumption weaknesses: </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Race conditions between reservation creation and cancellation can leave remaining slots inconsistent. </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FR-24 and FR-31 require UI refreshes, but this ignores delayed rendering or missed event propagation.</a:t>
            </a:r>
          </a:p>
          <a:p>
            <a:r>
              <a:rPr lang="en-US" sz="800" dirty="0">
                <a:solidFill>
                  <a:schemeClr val="tx1"/>
                </a:solidFill>
                <a:latin typeface="Calibri" panose="020F0502020204030204" pitchFamily="34" charset="0"/>
                <a:cs typeface="Calibri" panose="020F0502020204030204" pitchFamily="34" charset="0"/>
              </a:rPr>
              <a:t>Persona-based debating: </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an admin who overrides remaining slots, could manual edits create slot mismatches? As a rapid concurrent-user scenario, could optimistic updates cause temporary negative or stale slots?</a:t>
            </a:r>
          </a:p>
          <a:p>
            <a:r>
              <a:rPr lang="en-US" sz="800" dirty="0">
                <a:solidFill>
                  <a:schemeClr val="tx1"/>
                </a:solidFill>
                <a:latin typeface="Calibri" panose="020F0502020204030204" pitchFamily="34" charset="0"/>
                <a:cs typeface="Calibri" panose="020F0502020204030204" pitchFamily="34" charset="0"/>
              </a:rPr>
              <a:t>Reflective challenge: </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timing, event-ordering, or UI-update assumptions must be justified for this reproduction? Clarify those assumptions to enable sharper identification of logical gaps and edge cases.</a:t>
            </a:r>
            <a:endParaRPr lang="en-GB" sz="800" dirty="0">
              <a:solidFill>
                <a:schemeClr val="accent2"/>
              </a:solidFill>
              <a:latin typeface="Calibri" panose="020F0502020204030204" pitchFamily="34" charset="0"/>
              <a:cs typeface="Calibri" panose="020F0502020204030204" pitchFamily="34" charset="0"/>
            </a:endParaRPr>
          </a:p>
        </p:txBody>
      </p:sp>
      <p:grpSp>
        <p:nvGrpSpPr>
          <p:cNvPr id="7" name="Group 6">
            <a:extLst>
              <a:ext uri="{FF2B5EF4-FFF2-40B4-BE49-F238E27FC236}">
                <a16:creationId xmlns:a16="http://schemas.microsoft.com/office/drawing/2014/main" id="{120C9DB3-11B5-251C-5B48-4C8DC17EEA63}"/>
              </a:ext>
            </a:extLst>
          </p:cNvPr>
          <p:cNvGrpSpPr/>
          <p:nvPr/>
        </p:nvGrpSpPr>
        <p:grpSpPr>
          <a:xfrm>
            <a:off x="734915" y="152587"/>
            <a:ext cx="2863691" cy="623787"/>
            <a:chOff x="7061689" y="106680"/>
            <a:chExt cx="3993502" cy="831715"/>
          </a:xfrm>
        </p:grpSpPr>
        <p:sp>
          <p:nvSpPr>
            <p:cNvPr id="8" name="Rectangle 7">
              <a:extLst>
                <a:ext uri="{FF2B5EF4-FFF2-40B4-BE49-F238E27FC236}">
                  <a16:creationId xmlns:a16="http://schemas.microsoft.com/office/drawing/2014/main" id="{FF1F31FF-D374-BBFB-01F3-1987DD2BA942}"/>
                </a:ext>
              </a:extLst>
            </p:cNvPr>
            <p:cNvSpPr/>
            <p:nvPr/>
          </p:nvSpPr>
          <p:spPr>
            <a:xfrm>
              <a:off x="7366730" y="106680"/>
              <a:ext cx="3688461" cy="83171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trying to reproduce a ‘remaining slots feels wrong’ issue using fill → cancel → reserve quickly. List pitfalls, then suggest deeper paths to detect lingering state after transitions.</a:t>
              </a:r>
            </a:p>
          </p:txBody>
        </p:sp>
        <p:pic>
          <p:nvPicPr>
            <p:cNvPr id="9" name="Graphic 8" descr="Programmer female with solid fill">
              <a:extLst>
                <a:ext uri="{FF2B5EF4-FFF2-40B4-BE49-F238E27FC236}">
                  <a16:creationId xmlns:a16="http://schemas.microsoft.com/office/drawing/2014/main" id="{DC0ED482-D79E-1B61-1359-19642DB2B9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1689" y="106680"/>
              <a:ext cx="280797" cy="280797"/>
            </a:xfrm>
            <a:prstGeom prst="rect">
              <a:avLst/>
            </a:prstGeom>
          </p:spPr>
        </p:pic>
      </p:grpSp>
      <p:sp>
        <p:nvSpPr>
          <p:cNvPr id="13" name="TextBox 12">
            <a:extLst>
              <a:ext uri="{FF2B5EF4-FFF2-40B4-BE49-F238E27FC236}">
                <a16:creationId xmlns:a16="http://schemas.microsoft.com/office/drawing/2014/main" id="{E7CF3DAB-9A4B-D9B1-7D81-0C025109F6F5}"/>
              </a:ext>
            </a:extLst>
          </p:cNvPr>
          <p:cNvSpPr txBox="1"/>
          <p:nvPr/>
        </p:nvSpPr>
        <p:spPr>
          <a:xfrm>
            <a:off x="3719975" y="3184063"/>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6AE3037C-0E5B-F85B-B81B-0A59C7955E38}"/>
              </a:ext>
            </a:extLst>
          </p:cNvPr>
          <p:cNvSpPr txBox="1"/>
          <p:nvPr/>
        </p:nvSpPr>
        <p:spPr>
          <a:xfrm>
            <a:off x="7213246" y="2178895"/>
            <a:ext cx="4572000" cy="3323987"/>
          </a:xfrm>
          <a:prstGeom prst="rect">
            <a:avLst/>
          </a:prstGeom>
          <a:noFill/>
        </p:spPr>
        <p:txBody>
          <a:bodyPr wrap="square">
            <a:spAutoFit/>
          </a:bodyPr>
          <a:lstStyle/>
          <a:p>
            <a:r>
              <a:rPr lang="en-US" sz="7000" dirty="0"/>
              <a:t>AM-assumption-buster-2</a:t>
            </a:r>
            <a:endParaRPr lang="en-US" sz="70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3109320D-B7FF-012F-5CFE-3DE78218C1BA}"/>
              </a:ext>
            </a:extLst>
          </p:cNvPr>
          <p:cNvSpPr txBox="1"/>
          <p:nvPr/>
        </p:nvSpPr>
        <p:spPr>
          <a:xfrm>
            <a:off x="3719975" y="2840690"/>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9944B758-2991-64A5-FA72-DD47115FD07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778043"/>
            <a:ext cx="231730" cy="210626"/>
          </a:xfrm>
          <a:prstGeom prst="rect">
            <a:avLst/>
          </a:prstGeom>
        </p:spPr>
      </p:pic>
    </p:spTree>
    <p:extLst>
      <p:ext uri="{BB962C8B-B14F-4D97-AF65-F5344CB8AC3E}">
        <p14:creationId xmlns:p14="http://schemas.microsoft.com/office/powerpoint/2010/main" val="1888922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64B77-4525-AC1A-4FC7-A9BC1E0E478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68758DD-7CAD-7F63-89EE-EDE5D22B91ED}"/>
              </a:ext>
            </a:extLst>
          </p:cNvPr>
          <p:cNvSpPr/>
          <p:nvPr/>
        </p:nvSpPr>
        <p:spPr>
          <a:xfrm>
            <a:off x="953110" y="1893977"/>
            <a:ext cx="2645496" cy="27224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assumptions (surface):</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rapid </a:t>
            </a:r>
            <a:r>
              <a:rPr lang="en-US" sz="800" dirty="0" err="1">
                <a:solidFill>
                  <a:schemeClr val="tx1"/>
                </a:solidFill>
                <a:latin typeface="Calibri" panose="020F0502020204030204" pitchFamily="34" charset="0"/>
                <a:cs typeface="Calibri" panose="020F0502020204030204" pitchFamily="34" charset="0"/>
              </a:rPr>
              <a:t>fill→cancel→reserve</a:t>
            </a:r>
            <a:r>
              <a:rPr lang="en-US" sz="800" dirty="0">
                <a:solidFill>
                  <a:schemeClr val="tx1"/>
                </a:solidFill>
                <a:latin typeface="Calibri" panose="020F0502020204030204" pitchFamily="34" charset="0"/>
                <a:cs typeface="Calibri" panose="020F0502020204030204" pitchFamily="34" charset="0"/>
              </a:rPr>
              <a:t> exposes transient inconsistency in remaining slots.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Implicit assumptions include synchronous UI updates, atomic state transitions, and accurate in-memory counters.</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UI update timing, event batching, or debounced renders could mask or reorder state changes.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FR-24 and FR-31 expect immediate adjustments, yet SPA in-memory state may produce stale displays.</a:t>
            </a:r>
          </a:p>
          <a:p>
            <a:r>
              <a:rPr lang="en-US" sz="800" dirty="0">
                <a:solidFill>
                  <a:schemeClr val="tx1"/>
                </a:solidFill>
                <a:latin typeface="Calibri" panose="020F0502020204030204" pitchFamily="34" charset="0"/>
                <a:cs typeface="Calibri" panose="020F0502020204030204" pitchFamily="34" charset="0"/>
              </a:rPr>
              <a:t>Persona-based challenge (role perspective):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 concurrent-user or attacker persona: could race conditions during rapid actions </a:t>
            </a:r>
            <a:r>
              <a:rPr lang="en-US" sz="800" dirty="0" err="1">
                <a:solidFill>
                  <a:schemeClr val="accent6"/>
                </a:solidFill>
                <a:latin typeface="Calibri" panose="020F0502020204030204" pitchFamily="34" charset="0"/>
                <a:cs typeface="Calibri" panose="020F0502020204030204" pitchFamily="34" charset="0"/>
              </a:rPr>
              <a:t>misassociate</a:t>
            </a:r>
            <a:r>
              <a:rPr lang="en-US" sz="800" dirty="0">
                <a:solidFill>
                  <a:schemeClr val="accent6"/>
                </a:solidFill>
                <a:latin typeface="Calibri" panose="020F0502020204030204" pitchFamily="34" charset="0"/>
                <a:cs typeface="Calibri" panose="020F0502020204030204" pitchFamily="34" charset="0"/>
              </a:rPr>
              <a:t> reservations?</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an admin persona: could manual overrides or edits fail to propagate, leaving inconsistent slots?</a:t>
            </a:r>
          </a:p>
          <a:p>
            <a:r>
              <a:rPr lang="en-US" sz="800" dirty="0">
                <a:solidFill>
                  <a:schemeClr val="tx1"/>
                </a:solidFill>
                <a:latin typeface="Calibri" panose="020F0502020204030204" pitchFamily="34" charset="0"/>
                <a:cs typeface="Calibri" panose="020F0502020204030204" pitchFamily="34" charset="0"/>
              </a:rPr>
              <a:t>Reflective challenge (invite refinement):</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specific sequence and timing granularity is expected during the reproduce attempt?</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Provide assumptions about rendering, event ordering, and admin interactions for deeper critique.</a:t>
            </a:r>
            <a:endParaRPr lang="en-GB" sz="800" dirty="0">
              <a:solidFill>
                <a:schemeClr val="tx1"/>
              </a:solidFill>
              <a:latin typeface="Calibri" panose="020F0502020204030204" pitchFamily="34" charset="0"/>
              <a:cs typeface="Calibri" panose="020F0502020204030204" pitchFamily="34" charset="0"/>
            </a:endParaRPr>
          </a:p>
        </p:txBody>
      </p:sp>
      <p:grpSp>
        <p:nvGrpSpPr>
          <p:cNvPr id="7" name="Group 6">
            <a:extLst>
              <a:ext uri="{FF2B5EF4-FFF2-40B4-BE49-F238E27FC236}">
                <a16:creationId xmlns:a16="http://schemas.microsoft.com/office/drawing/2014/main" id="{532CAC8E-7058-5907-414B-59DDAB36A8DF}"/>
              </a:ext>
            </a:extLst>
          </p:cNvPr>
          <p:cNvGrpSpPr/>
          <p:nvPr/>
        </p:nvGrpSpPr>
        <p:grpSpPr>
          <a:xfrm>
            <a:off x="734915" y="1270187"/>
            <a:ext cx="2863691" cy="623787"/>
            <a:chOff x="7061689" y="106680"/>
            <a:chExt cx="3993502" cy="831715"/>
          </a:xfrm>
        </p:grpSpPr>
        <p:sp>
          <p:nvSpPr>
            <p:cNvPr id="8" name="Rectangle 7">
              <a:extLst>
                <a:ext uri="{FF2B5EF4-FFF2-40B4-BE49-F238E27FC236}">
                  <a16:creationId xmlns:a16="http://schemas.microsoft.com/office/drawing/2014/main" id="{106B483C-599A-620C-22B4-70CDA7AE86B5}"/>
                </a:ext>
              </a:extLst>
            </p:cNvPr>
            <p:cNvSpPr/>
            <p:nvPr/>
          </p:nvSpPr>
          <p:spPr>
            <a:xfrm>
              <a:off x="7366730" y="106680"/>
              <a:ext cx="3688461" cy="83171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trying to reproduce a ‘remaining slots feels wrong’ issue using fill → cancel → reserve quickly. List pitfalls, then suggest deeper paths to detect lingering state after transitions.</a:t>
              </a:r>
            </a:p>
          </p:txBody>
        </p:sp>
        <p:pic>
          <p:nvPicPr>
            <p:cNvPr id="9" name="Graphic 8" descr="Programmer female with solid fill">
              <a:extLst>
                <a:ext uri="{FF2B5EF4-FFF2-40B4-BE49-F238E27FC236}">
                  <a16:creationId xmlns:a16="http://schemas.microsoft.com/office/drawing/2014/main" id="{808CC216-6402-CC33-FB2D-24DFB008CA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1689" y="106680"/>
              <a:ext cx="280797" cy="280797"/>
            </a:xfrm>
            <a:prstGeom prst="rect">
              <a:avLst/>
            </a:prstGeom>
          </p:spPr>
        </p:pic>
      </p:grpSp>
      <p:sp>
        <p:nvSpPr>
          <p:cNvPr id="13" name="TextBox 12">
            <a:extLst>
              <a:ext uri="{FF2B5EF4-FFF2-40B4-BE49-F238E27FC236}">
                <a16:creationId xmlns:a16="http://schemas.microsoft.com/office/drawing/2014/main" id="{FEB5CD8A-5896-BE5B-096B-E70D626946FB}"/>
              </a:ext>
            </a:extLst>
          </p:cNvPr>
          <p:cNvSpPr txBox="1"/>
          <p:nvPr/>
        </p:nvSpPr>
        <p:spPr>
          <a:xfrm>
            <a:off x="3719975" y="4384213"/>
            <a:ext cx="1063112" cy="215444"/>
          </a:xfrm>
          <a:prstGeom prst="rect">
            <a:avLst/>
          </a:prstGeom>
          <a:noFill/>
          <a:ln w="12700">
            <a:noFill/>
            <a:prstDash val="dash"/>
          </a:ln>
        </p:spPr>
        <p:txBody>
          <a:bodyPr wrap="none" rtlCol="0">
            <a:spAutoFit/>
          </a:bodyPr>
          <a:lstStyle/>
          <a:p>
            <a:pPr algn="ctr"/>
            <a:r>
              <a:rPr lang="en-GB" sz="800" dirty="0">
                <a:latin typeface="Calibri" panose="020F0502020204030204" pitchFamily="34" charset="0"/>
                <a:cs typeface="Calibri" panose="020F0502020204030204" pitchFamily="34" charset="0"/>
              </a:rPr>
              <a:t>Divergent suggestion</a:t>
            </a:r>
            <a:endParaRPr lang="en-SE"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E34EB66D-6B82-89E5-410F-AD967B81B0D5}"/>
              </a:ext>
            </a:extLst>
          </p:cNvPr>
          <p:cNvSpPr txBox="1"/>
          <p:nvPr/>
        </p:nvSpPr>
        <p:spPr>
          <a:xfrm>
            <a:off x="6233502" y="1480785"/>
            <a:ext cx="4572000" cy="3323987"/>
          </a:xfrm>
          <a:prstGeom prst="rect">
            <a:avLst/>
          </a:prstGeom>
          <a:noFill/>
        </p:spPr>
        <p:txBody>
          <a:bodyPr wrap="square">
            <a:spAutoFit/>
          </a:bodyPr>
          <a:lstStyle/>
          <a:p>
            <a:r>
              <a:rPr lang="en-US" sz="7000" dirty="0"/>
              <a:t>AM-assumption-buster-3</a:t>
            </a:r>
            <a:endParaRPr lang="en-US" sz="70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56BB1A7B-4DA2-50EE-19F1-661FD97B66A8}"/>
              </a:ext>
            </a:extLst>
          </p:cNvPr>
          <p:cNvSpPr txBox="1"/>
          <p:nvPr/>
        </p:nvSpPr>
        <p:spPr>
          <a:xfrm>
            <a:off x="3719975" y="4040840"/>
            <a:ext cx="1060040" cy="215444"/>
          </a:xfrm>
          <a:prstGeom prst="rect">
            <a:avLst/>
          </a:prstGeom>
          <a:noFill/>
          <a:ln w="12700">
            <a:noFill/>
            <a:prstDash val="dash"/>
          </a:ln>
        </p:spPr>
        <p:txBody>
          <a:bodyPr wrap="square">
            <a:spAutoFit/>
          </a:bodyPr>
          <a:lstStyle/>
          <a:p>
            <a:pPr algn="ctr"/>
            <a:r>
              <a:rPr lang="en-GB" sz="800" dirty="0">
                <a:latin typeface="Calibri" panose="020F0502020204030204" pitchFamily="34" charset="0"/>
                <a:cs typeface="Calibri" panose="020F0502020204030204" pitchFamily="34" charset="0"/>
              </a:rPr>
              <a:t>Adversarial feedback</a:t>
            </a:r>
            <a:endParaRPr lang="en-SE" sz="800" dirty="0">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7EB17A8E-D40F-F0BB-9FDC-B5144E0B03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1380" y="1893974"/>
            <a:ext cx="231730" cy="210626"/>
          </a:xfrm>
          <a:prstGeom prst="rect">
            <a:avLst/>
          </a:prstGeom>
        </p:spPr>
      </p:pic>
    </p:spTree>
    <p:extLst>
      <p:ext uri="{BB962C8B-B14F-4D97-AF65-F5344CB8AC3E}">
        <p14:creationId xmlns:p14="http://schemas.microsoft.com/office/powerpoint/2010/main" val="148370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1792-B9F5-2229-D2FF-599C45DA10D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9D52F0F-272A-F094-E26B-23B5CD4F39C2}"/>
              </a:ext>
            </a:extLst>
          </p:cNvPr>
          <p:cNvSpPr/>
          <p:nvPr/>
        </p:nvSpPr>
        <p:spPr>
          <a:xfrm>
            <a:off x="953110" y="1893977"/>
            <a:ext cx="2645496" cy="236230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assumptions surfaced:</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test keeps admin and regular-user panels visible simultaneously.</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Assumes panels represent isolated user contexts and UI updates expose shared state.</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False alarms may arise from asynchronous UI updates, rendering delays, and race conditions.</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False confidence may result from admin-only visibility rules (FR-33) or filters/sorting reapplication </a:t>
            </a:r>
            <a:r>
              <a:rPr lang="en-US" sz="800" dirty="0">
                <a:solidFill>
                  <a:schemeClr val="tx1"/>
                </a:solidFill>
                <a:latin typeface="Calibri" panose="020F0502020204030204" pitchFamily="34" charset="0"/>
                <a:cs typeface="Calibri" panose="020F0502020204030204" pitchFamily="34" charset="0"/>
              </a:rPr>
              <a:t>(FR-19, FR-20).</a:t>
            </a:r>
          </a:p>
          <a:p>
            <a:r>
              <a:rPr lang="en-US" sz="800" dirty="0">
                <a:solidFill>
                  <a:schemeClr val="tx1"/>
                </a:solidFill>
                <a:latin typeface="Calibri" panose="020F0502020204030204" pitchFamily="34" charset="0"/>
                <a:cs typeface="Calibri" panose="020F0502020204030204" pitchFamily="34" charset="0"/>
              </a:rPr>
              <a:t>Persona-based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As an attacker manipulating the active User ID, could observed state changes be spoofed?</a:t>
            </a:r>
          </a:p>
          <a:p>
            <a:r>
              <a:rPr lang="en-US" sz="800" dirty="0">
                <a:solidFill>
                  <a:schemeClr val="tx1"/>
                </a:solidFill>
                <a:latin typeface="Calibri" panose="020F0502020204030204" pitchFamily="34" charset="0"/>
                <a:cs typeface="Calibri" panose="020F0502020204030204" pitchFamily="34" charset="0"/>
              </a:rPr>
              <a:t>Reflective challenge (no prescriptive steps provided):</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No prescriptive testing steps or solutions will be provided here.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exact observable behaviors should distinguish a true state leak from normal UI re-rendering?</a:t>
            </a:r>
            <a:endParaRPr lang="en-GB" sz="800" dirty="0">
              <a:solidFill>
                <a:schemeClr val="accent2"/>
              </a:solidFill>
              <a:latin typeface="Calibri" panose="020F0502020204030204" pitchFamily="34" charset="0"/>
              <a:cs typeface="Calibri" panose="020F0502020204030204" pitchFamily="34" charset="0"/>
            </a:endParaRPr>
          </a:p>
        </p:txBody>
      </p:sp>
      <p:grpSp>
        <p:nvGrpSpPr>
          <p:cNvPr id="7" name="Group 6">
            <a:extLst>
              <a:ext uri="{FF2B5EF4-FFF2-40B4-BE49-F238E27FC236}">
                <a16:creationId xmlns:a16="http://schemas.microsoft.com/office/drawing/2014/main" id="{A75CD9A4-B82C-FA0F-C586-35B7104C06EB}"/>
              </a:ext>
            </a:extLst>
          </p:cNvPr>
          <p:cNvGrpSpPr/>
          <p:nvPr/>
        </p:nvGrpSpPr>
        <p:grpSpPr>
          <a:xfrm>
            <a:off x="734915" y="1270187"/>
            <a:ext cx="2863691" cy="623787"/>
            <a:chOff x="7061689" y="106680"/>
            <a:chExt cx="3993502" cy="831715"/>
          </a:xfrm>
        </p:grpSpPr>
        <p:sp>
          <p:nvSpPr>
            <p:cNvPr id="8" name="Rectangle 7">
              <a:extLst>
                <a:ext uri="{FF2B5EF4-FFF2-40B4-BE49-F238E27FC236}">
                  <a16:creationId xmlns:a16="http://schemas.microsoft.com/office/drawing/2014/main" id="{00A1A64A-F7F3-5655-00BC-B41A21CDF8AF}"/>
                </a:ext>
              </a:extLst>
            </p:cNvPr>
            <p:cNvSpPr/>
            <p:nvPr/>
          </p:nvSpPr>
          <p:spPr>
            <a:xfrm>
              <a:off x="7366730" y="106680"/>
              <a:ext cx="3688461" cy="83171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To test state leaks, I’m keeping both panels (admin and normal user) visible and do reserve cancel then flip filters and sort. Identify what could cause false alarms or false confidence in my observations, then rewrite my test approach with corrections to reduce both.</a:t>
              </a:r>
            </a:p>
          </p:txBody>
        </p:sp>
        <p:pic>
          <p:nvPicPr>
            <p:cNvPr id="9" name="Graphic 8" descr="Programmer female with solid fill">
              <a:extLst>
                <a:ext uri="{FF2B5EF4-FFF2-40B4-BE49-F238E27FC236}">
                  <a16:creationId xmlns:a16="http://schemas.microsoft.com/office/drawing/2014/main" id="{3A31E583-282A-358E-A27A-F7F734118C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1689" y="106680"/>
              <a:ext cx="280797" cy="280797"/>
            </a:xfrm>
            <a:prstGeom prst="rect">
              <a:avLst/>
            </a:prstGeom>
          </p:spPr>
        </p:pic>
      </p:grpSp>
      <p:sp>
        <p:nvSpPr>
          <p:cNvPr id="13" name="TextBox 12">
            <a:extLst>
              <a:ext uri="{FF2B5EF4-FFF2-40B4-BE49-F238E27FC236}">
                <a16:creationId xmlns:a16="http://schemas.microsoft.com/office/drawing/2014/main" id="{A1CD95F5-CC8E-0335-D35C-5A3C38815C06}"/>
              </a:ext>
            </a:extLst>
          </p:cNvPr>
          <p:cNvSpPr txBox="1"/>
          <p:nvPr/>
        </p:nvSpPr>
        <p:spPr>
          <a:xfrm>
            <a:off x="3719975" y="4028613"/>
            <a:ext cx="1063112" cy="215444"/>
          </a:xfrm>
          <a:prstGeom prst="rect">
            <a:avLst/>
          </a:prstGeom>
          <a:noFill/>
          <a:ln w="12700">
            <a:noFill/>
            <a:prstDash val="dash"/>
          </a:ln>
        </p:spPr>
        <p:txBody>
          <a:bodyPr wrap="none" rtlCol="0">
            <a:spAutoFit/>
          </a:bodyPr>
          <a:lstStyle/>
          <a:p>
            <a:pPr algn="ctr"/>
            <a:r>
              <a:rPr lang="en-GB" sz="800" dirty="0">
                <a:solidFill>
                  <a:schemeClr val="accent2"/>
                </a:solidFill>
                <a:latin typeface="Calibri" panose="020F0502020204030204" pitchFamily="34" charset="0"/>
                <a:cs typeface="Calibri" panose="020F0502020204030204" pitchFamily="34" charset="0"/>
              </a:rPr>
              <a:t>Divergent suggestion</a:t>
            </a:r>
            <a:endParaRPr lang="en-SE" sz="800" dirty="0">
              <a:solidFill>
                <a:schemeClr val="accent2"/>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62657710-B429-A82F-E842-A2ACB9B32049}"/>
              </a:ext>
            </a:extLst>
          </p:cNvPr>
          <p:cNvSpPr txBox="1"/>
          <p:nvPr/>
        </p:nvSpPr>
        <p:spPr>
          <a:xfrm>
            <a:off x="6738327" y="933440"/>
            <a:ext cx="4572000" cy="3416320"/>
          </a:xfrm>
          <a:prstGeom prst="rect">
            <a:avLst/>
          </a:prstGeom>
          <a:noFill/>
        </p:spPr>
        <p:txBody>
          <a:bodyPr wrap="square">
            <a:spAutoFit/>
          </a:bodyPr>
          <a:lstStyle/>
          <a:p>
            <a:r>
              <a:rPr lang="en-US" sz="7200" dirty="0"/>
              <a:t>AM-assumption-buster-4</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1218E4E0-E31C-259D-E70B-88D1988F4011}"/>
              </a:ext>
            </a:extLst>
          </p:cNvPr>
          <p:cNvSpPr txBox="1"/>
          <p:nvPr/>
        </p:nvSpPr>
        <p:spPr>
          <a:xfrm>
            <a:off x="3719975" y="3685240"/>
            <a:ext cx="1060040" cy="215444"/>
          </a:xfrm>
          <a:prstGeom prst="rect">
            <a:avLst/>
          </a:prstGeom>
          <a:noFill/>
          <a:ln w="12700">
            <a:noFill/>
            <a:prstDash val="dash"/>
          </a:ln>
        </p:spPr>
        <p:txBody>
          <a:bodyPr wrap="square">
            <a:spAutoFit/>
          </a:bodyPr>
          <a:lstStyle/>
          <a:p>
            <a:pPr algn="ctr"/>
            <a:r>
              <a:rPr lang="en-GB" sz="800" dirty="0">
                <a:solidFill>
                  <a:schemeClr val="accent5">
                    <a:lumMod val="60000"/>
                    <a:lumOff val="40000"/>
                  </a:schemeClr>
                </a:solidFill>
                <a:latin typeface="Calibri" panose="020F0502020204030204" pitchFamily="34" charset="0"/>
                <a:cs typeface="Calibri" panose="020F0502020204030204" pitchFamily="34" charset="0"/>
              </a:rPr>
              <a:t>Adversarial feedback</a:t>
            </a:r>
            <a:endParaRPr lang="en-SE" sz="800" dirty="0">
              <a:solidFill>
                <a:schemeClr val="accent5">
                  <a:lumMod val="60000"/>
                  <a:lumOff val="40000"/>
                </a:schemeClr>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D02D18B6-68DE-A194-209A-59B254A4F2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1380" y="1893974"/>
            <a:ext cx="231730" cy="210626"/>
          </a:xfrm>
          <a:prstGeom prst="rect">
            <a:avLst/>
          </a:prstGeom>
        </p:spPr>
      </p:pic>
    </p:spTree>
    <p:extLst>
      <p:ext uri="{BB962C8B-B14F-4D97-AF65-F5344CB8AC3E}">
        <p14:creationId xmlns:p14="http://schemas.microsoft.com/office/powerpoint/2010/main" val="1078028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E3691-3F96-F5AD-3BB3-B70190FB6F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DE7196E-1F81-3830-BA47-725090694DD7}"/>
              </a:ext>
            </a:extLst>
          </p:cNvPr>
          <p:cNvSpPr/>
          <p:nvPr/>
        </p:nvSpPr>
        <p:spPr>
          <a:xfrm>
            <a:off x="953110" y="1893980"/>
            <a:ext cx="2645496" cy="43290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keeping admin and normal user panels visible will reveal cross-role state leaks.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reserve/cancel plus filter/sort actions synchronously propagate to both panels and the in-memory model.</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treats panels as independent contexts, but requirements tie admin visibility and active User ID together (FR-33, FR-4).</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Asynchronous UI updates, event propagation gaps, admin-specific ordering, and filter persistence (FR-19/20/38, FR-12) can produce transient differences that mimic leaks.</a:t>
            </a:r>
          </a:p>
          <a:p>
            <a:r>
              <a:rPr lang="en-US" sz="800" dirty="0">
                <a:solidFill>
                  <a:schemeClr val="tx1"/>
                </a:solidFill>
                <a:latin typeface="Calibri" panose="020F0502020204030204" pitchFamily="34" charset="0"/>
                <a:cs typeface="Calibri" panose="020F0502020204030204" pitchFamily="34" charset="0"/>
              </a:rPr>
              <a:t>Persona-based challenge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an attacker, could race conditions or delayed event handling make admin-only changes momentarily appear in a user view?</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 regular user, could filter or sort state be local to one panel, causing false confidence about synchronized state?</a:t>
            </a:r>
          </a:p>
          <a:p>
            <a:r>
              <a:rPr lang="en-US" sz="800" dirty="0">
                <a:solidFill>
                  <a:schemeClr val="tx1"/>
                </a:solidFill>
                <a:latin typeface="Calibri" panose="020F0502020204030204" pitchFamily="34" charset="0"/>
                <a:cs typeface="Calibri" panose="020F0502020204030204" pitchFamily="34" charset="0"/>
              </a:rPr>
              <a:t>Corrected logical framing (non-prescriptive)</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Reframe approach: treat each visible panel as reflecting the single active global context, not separate users.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Expect asynchronous propagation, UI rendering delays, and view-specific ordering or filter state as normal </a:t>
            </a:r>
            <a:r>
              <a:rPr lang="en-US" sz="800" dirty="0" err="1">
                <a:solidFill>
                  <a:schemeClr val="tx1"/>
                </a:solidFill>
                <a:latin typeface="Calibri" panose="020F0502020204030204" pitchFamily="34" charset="0"/>
                <a:cs typeface="Calibri" panose="020F0502020204030204" pitchFamily="34" charset="0"/>
              </a:rPr>
              <a:t>behaviours</a:t>
            </a:r>
            <a:r>
              <a:rPr lang="en-US" sz="800" dirty="0">
                <a:solidFill>
                  <a:schemeClr val="tx1"/>
                </a:solidFill>
                <a:latin typeface="Calibri" panose="020F0502020204030204" pitchFamily="34" charset="0"/>
                <a:cs typeface="Calibri" panose="020F0502020204030204" pitchFamily="34" charset="0"/>
              </a:rPr>
              <a:t>.</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How will the approach distinguish genuine cross-context data corruption from transient UI lag or view-scoped state?</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Which observable invariants would falsify the assumption that both panels represent independent, simultaneously active identities?</a:t>
            </a:r>
            <a:endParaRPr lang="en-GB" sz="800" dirty="0">
              <a:solidFill>
                <a:schemeClr val="tx1"/>
              </a:solidFill>
              <a:latin typeface="Calibri" panose="020F0502020204030204" pitchFamily="34" charset="0"/>
              <a:cs typeface="Calibri" panose="020F0502020204030204" pitchFamily="34" charset="0"/>
            </a:endParaRPr>
          </a:p>
        </p:txBody>
      </p:sp>
      <p:grpSp>
        <p:nvGrpSpPr>
          <p:cNvPr id="7" name="Group 6">
            <a:extLst>
              <a:ext uri="{FF2B5EF4-FFF2-40B4-BE49-F238E27FC236}">
                <a16:creationId xmlns:a16="http://schemas.microsoft.com/office/drawing/2014/main" id="{19FA2159-67C9-9EB7-097D-69584346EE7D}"/>
              </a:ext>
            </a:extLst>
          </p:cNvPr>
          <p:cNvGrpSpPr/>
          <p:nvPr/>
        </p:nvGrpSpPr>
        <p:grpSpPr>
          <a:xfrm>
            <a:off x="734915" y="1270187"/>
            <a:ext cx="2863691" cy="623787"/>
            <a:chOff x="7061689" y="106680"/>
            <a:chExt cx="3993502" cy="831715"/>
          </a:xfrm>
        </p:grpSpPr>
        <p:sp>
          <p:nvSpPr>
            <p:cNvPr id="8" name="Rectangle 7">
              <a:extLst>
                <a:ext uri="{FF2B5EF4-FFF2-40B4-BE49-F238E27FC236}">
                  <a16:creationId xmlns:a16="http://schemas.microsoft.com/office/drawing/2014/main" id="{1C6AB6B5-60DD-73AB-6AD9-A5BF40355EFC}"/>
                </a:ext>
              </a:extLst>
            </p:cNvPr>
            <p:cNvSpPr/>
            <p:nvPr/>
          </p:nvSpPr>
          <p:spPr>
            <a:xfrm>
              <a:off x="7366730" y="106680"/>
              <a:ext cx="3688461" cy="83171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To test state leaks, I’m keeping both panels (admin and normal user) visible and do reserve cancel then flip filters and sort. Identify what could cause false alarms or false confidence in my observations, then rewrite my test approach with corrections to reduce both.</a:t>
              </a:r>
            </a:p>
          </p:txBody>
        </p:sp>
        <p:pic>
          <p:nvPicPr>
            <p:cNvPr id="9" name="Graphic 8" descr="Programmer female with solid fill">
              <a:extLst>
                <a:ext uri="{FF2B5EF4-FFF2-40B4-BE49-F238E27FC236}">
                  <a16:creationId xmlns:a16="http://schemas.microsoft.com/office/drawing/2014/main" id="{496A9ED7-420A-B56F-2BC6-BE95862D2F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1689" y="106680"/>
              <a:ext cx="280797" cy="280797"/>
            </a:xfrm>
            <a:prstGeom prst="rect">
              <a:avLst/>
            </a:prstGeom>
          </p:spPr>
        </p:pic>
      </p:grpSp>
      <p:sp>
        <p:nvSpPr>
          <p:cNvPr id="13" name="TextBox 12">
            <a:extLst>
              <a:ext uri="{FF2B5EF4-FFF2-40B4-BE49-F238E27FC236}">
                <a16:creationId xmlns:a16="http://schemas.microsoft.com/office/drawing/2014/main" id="{42C82F8D-D7AB-22AA-DD80-DB65D55BA921}"/>
              </a:ext>
            </a:extLst>
          </p:cNvPr>
          <p:cNvSpPr txBox="1"/>
          <p:nvPr/>
        </p:nvSpPr>
        <p:spPr>
          <a:xfrm>
            <a:off x="3726325" y="5925006"/>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CBA945DE-80AE-7135-D0B6-27B593EFBF9F}"/>
              </a:ext>
            </a:extLst>
          </p:cNvPr>
          <p:cNvSpPr txBox="1"/>
          <p:nvPr/>
        </p:nvSpPr>
        <p:spPr>
          <a:xfrm>
            <a:off x="7083993" y="1212748"/>
            <a:ext cx="4572000" cy="3416320"/>
          </a:xfrm>
          <a:prstGeom prst="rect">
            <a:avLst/>
          </a:prstGeom>
          <a:noFill/>
        </p:spPr>
        <p:txBody>
          <a:bodyPr wrap="square">
            <a:spAutoFit/>
          </a:bodyPr>
          <a:lstStyle/>
          <a:p>
            <a:r>
              <a:rPr lang="en-US" sz="7200" dirty="0"/>
              <a:t>AM-assumption-buster-5</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F70FB9FF-BBC7-4882-F965-403844E661B3}"/>
              </a:ext>
            </a:extLst>
          </p:cNvPr>
          <p:cNvSpPr txBox="1"/>
          <p:nvPr/>
        </p:nvSpPr>
        <p:spPr>
          <a:xfrm>
            <a:off x="3726325" y="5581633"/>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740BBAC6-5ED4-F9E1-3559-00916420526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915" y="1893974"/>
            <a:ext cx="231730" cy="210626"/>
          </a:xfrm>
          <a:prstGeom prst="rect">
            <a:avLst/>
          </a:prstGeom>
        </p:spPr>
      </p:pic>
    </p:spTree>
    <p:extLst>
      <p:ext uri="{BB962C8B-B14F-4D97-AF65-F5344CB8AC3E}">
        <p14:creationId xmlns:p14="http://schemas.microsoft.com/office/powerpoint/2010/main" val="3508260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33222-6509-03F7-2CC0-B7E99E082DC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611EAE5-E559-4EA0-B4FE-A79BEF3F7B40}"/>
              </a:ext>
            </a:extLst>
          </p:cNvPr>
          <p:cNvSpPr/>
          <p:nvPr/>
        </p:nvSpPr>
        <p:spPr>
          <a:xfrm>
            <a:off x="953110" y="1893980"/>
            <a:ext cx="2645496" cy="2595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two visible panels represent distinct, simultaneously valid role states.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It also assumes reserve-cancel and filter/sort flips expose cross-panel leaks.</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False alarms may stem from UI caching, asynchronous updates, DOM reuse, or CSS artifacts.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False confidence arises if server state, auth tokens, or concurrent sessions differ unseen.</a:t>
            </a:r>
          </a:p>
          <a:p>
            <a:r>
              <a:rPr lang="en-US" sz="800" dirty="0">
                <a:solidFill>
                  <a:schemeClr val="tx1"/>
                </a:solidFill>
                <a:latin typeface="Calibri" panose="020F0502020204030204" pitchFamily="34" charset="0"/>
                <a:cs typeface="Calibri" panose="020F0502020204030204" pitchFamily="34" charset="0"/>
              </a:rPr>
              <a:t>Persona-based debating:</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From an attacker persona: could shared APIs or predictable identifiers allow spoofing of panel state?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an accessibility user's view: might assistive technologies surface different timing artefacts misleading observations?</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explicit signals tie visible UI changes to authoritative server state for this scenario?</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Please clarify intended constraints and failure modes before a rewritten testing rationale is proposed.</a:t>
            </a:r>
            <a:endParaRPr lang="en-GB" sz="800" dirty="0">
              <a:solidFill>
                <a:schemeClr val="accent2"/>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FFC49E5-29FD-EF32-5D10-A9C64E6F4684}"/>
              </a:ext>
            </a:extLst>
          </p:cNvPr>
          <p:cNvSpPr/>
          <p:nvPr/>
        </p:nvSpPr>
        <p:spPr>
          <a:xfrm>
            <a:off x="953656" y="1270187"/>
            <a:ext cx="2644950" cy="62378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To test state leaks, I’m keeping both panels (admin and normal user) visible and do reserve cancel then flip filters and sort. Identify what could cause false alarms or false confidence in my observations, then rewrite my test approach with corrections to reduce both.</a:t>
            </a:r>
          </a:p>
        </p:txBody>
      </p:sp>
      <p:pic>
        <p:nvPicPr>
          <p:cNvPr id="9" name="Graphic 8" descr="Programmer female with solid fill">
            <a:extLst>
              <a:ext uri="{FF2B5EF4-FFF2-40B4-BE49-F238E27FC236}">
                <a16:creationId xmlns:a16="http://schemas.microsoft.com/office/drawing/2014/main" id="{B2FB5543-BD5C-228A-1F0F-E22D1ABF9A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1270187"/>
            <a:ext cx="201356" cy="210598"/>
          </a:xfrm>
          <a:prstGeom prst="rect">
            <a:avLst/>
          </a:prstGeom>
        </p:spPr>
      </p:pic>
      <p:sp>
        <p:nvSpPr>
          <p:cNvPr id="13" name="TextBox 12">
            <a:extLst>
              <a:ext uri="{FF2B5EF4-FFF2-40B4-BE49-F238E27FC236}">
                <a16:creationId xmlns:a16="http://schemas.microsoft.com/office/drawing/2014/main" id="{BEA3EAA3-9B16-FB68-1D94-4E472C527AB9}"/>
              </a:ext>
            </a:extLst>
          </p:cNvPr>
          <p:cNvSpPr txBox="1"/>
          <p:nvPr/>
        </p:nvSpPr>
        <p:spPr>
          <a:xfrm>
            <a:off x="3726325" y="4261306"/>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EE27ABA5-7734-65A1-D401-EB7257647180}"/>
              </a:ext>
            </a:extLst>
          </p:cNvPr>
          <p:cNvSpPr txBox="1"/>
          <p:nvPr/>
        </p:nvSpPr>
        <p:spPr>
          <a:xfrm>
            <a:off x="7461130" y="1190820"/>
            <a:ext cx="4572000" cy="3416320"/>
          </a:xfrm>
          <a:prstGeom prst="rect">
            <a:avLst/>
          </a:prstGeom>
          <a:noFill/>
        </p:spPr>
        <p:txBody>
          <a:bodyPr wrap="square">
            <a:spAutoFit/>
          </a:bodyPr>
          <a:lstStyle/>
          <a:p>
            <a:r>
              <a:rPr lang="en-US" sz="7200" dirty="0"/>
              <a:t>AM-assumption-buster-6</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D0642C67-E27A-A5A5-6B9E-5A318617060B}"/>
              </a:ext>
            </a:extLst>
          </p:cNvPr>
          <p:cNvSpPr txBox="1"/>
          <p:nvPr/>
        </p:nvSpPr>
        <p:spPr>
          <a:xfrm>
            <a:off x="3726325" y="3917933"/>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E0D094E2-C049-513B-6CBD-D248C72867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1893974"/>
            <a:ext cx="231730" cy="210626"/>
          </a:xfrm>
          <a:prstGeom prst="rect">
            <a:avLst/>
          </a:prstGeom>
        </p:spPr>
      </p:pic>
    </p:spTree>
    <p:extLst>
      <p:ext uri="{BB962C8B-B14F-4D97-AF65-F5344CB8AC3E}">
        <p14:creationId xmlns:p14="http://schemas.microsoft.com/office/powerpoint/2010/main" val="470748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FD7F-92F4-0C55-8C29-EF137991313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097BD6-D1D7-C178-9BDC-93BC4B23934C}"/>
              </a:ext>
            </a:extLst>
          </p:cNvPr>
          <p:cNvSpPr/>
          <p:nvPr/>
        </p:nvSpPr>
        <p:spPr>
          <a:xfrm>
            <a:off x="953110" y="1893980"/>
            <a:ext cx="2645496" cy="236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that keeping both panels visible surfaces cross-panel reservation state leaks.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Implicit assumptions include immediate UI-model synchronization, isolated panel rendering, and in-memory authoritative state (FR-4, FR-17, FR-21).</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accent5">
                    <a:lumMod val="40000"/>
                    <a:lumOff val="60000"/>
                  </a:schemeClr>
                </a:solidFill>
                <a:latin typeface="Calibri" panose="020F0502020204030204" pitchFamily="34" charset="0"/>
                <a:cs typeface="Calibri" panose="020F0502020204030204" pitchFamily="34" charset="0"/>
              </a:rPr>
              <a:t>Fragile premises: visually consistent UIs do not guarantee authoritative model consistency.</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Timing issues, event batching, render </a:t>
            </a:r>
            <a:r>
              <a:rPr lang="en-US" sz="800" dirty="0" err="1">
                <a:solidFill>
                  <a:schemeClr val="tx1"/>
                </a:solidFill>
                <a:latin typeface="Calibri" panose="020F0502020204030204" pitchFamily="34" charset="0"/>
                <a:cs typeface="Calibri" panose="020F0502020204030204" pitchFamily="34" charset="0"/>
              </a:rPr>
              <a:t>memoization</a:t>
            </a:r>
            <a:r>
              <a:rPr lang="en-US" sz="800" dirty="0">
                <a:solidFill>
                  <a:schemeClr val="tx1"/>
                </a:solidFill>
                <a:latin typeface="Calibri" panose="020F0502020204030204" pitchFamily="34" charset="0"/>
                <a:cs typeface="Calibri" panose="020F0502020204030204" pitchFamily="34" charset="0"/>
              </a:rPr>
              <a:t>, or shared mutable objects can produce false positives.</a:t>
            </a:r>
          </a:p>
          <a:p>
            <a:r>
              <a:rPr lang="en-US" sz="800" dirty="0">
                <a:solidFill>
                  <a:schemeClr val="tx1"/>
                </a:solidFill>
                <a:latin typeface="Calibri" panose="020F0502020204030204" pitchFamily="34" charset="0"/>
                <a:cs typeface="Calibri" panose="020F0502020204030204" pitchFamily="34" charset="0"/>
              </a:rPr>
              <a:t>Persona-based debating</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From an administrator viewpoint, overrides or reorders can intentionally change counts.</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From a regular user's lens, preserved filters (FR-17) might mask expected list changes?</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5">
                    <a:lumMod val="40000"/>
                    <a:lumOff val="60000"/>
                  </a:schemeClr>
                </a:solidFill>
                <a:latin typeface="Calibri" panose="020F0502020204030204" pitchFamily="34" charset="0"/>
                <a:cs typeface="Calibri" panose="020F0502020204030204" pitchFamily="34" charset="0"/>
              </a:rPr>
              <a:t>Which artifact is authoritative: in-memory model, displayed badges, or remaining-slot numbers?</a:t>
            </a:r>
            <a:endParaRPr lang="en-GB"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A1CDC2A2-4A17-C97C-71DF-E9FC5CC91B8B}"/>
              </a:ext>
            </a:extLst>
          </p:cNvPr>
          <p:cNvSpPr/>
          <p:nvPr/>
        </p:nvSpPr>
        <p:spPr>
          <a:xfrm>
            <a:off x="953656" y="1130301"/>
            <a:ext cx="2644950" cy="76367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keeping both panels visible, switching users (admin and normal user) around and do cancel then flip filters and sort to see if reservation state leaks. What invariants should I check to confirm whether any stale state is persisting and how can I avoid false alarms?</a:t>
            </a:r>
          </a:p>
        </p:txBody>
      </p:sp>
      <p:sp>
        <p:nvSpPr>
          <p:cNvPr id="13" name="TextBox 12">
            <a:extLst>
              <a:ext uri="{FF2B5EF4-FFF2-40B4-BE49-F238E27FC236}">
                <a16:creationId xmlns:a16="http://schemas.microsoft.com/office/drawing/2014/main" id="{57C6B9F9-3FE0-0ACE-85E4-58621C95B0EC}"/>
              </a:ext>
            </a:extLst>
          </p:cNvPr>
          <p:cNvSpPr txBox="1"/>
          <p:nvPr/>
        </p:nvSpPr>
        <p:spPr>
          <a:xfrm>
            <a:off x="3726325" y="4024229"/>
            <a:ext cx="1063112" cy="215444"/>
          </a:xfrm>
          <a:prstGeom prst="rect">
            <a:avLst/>
          </a:prstGeom>
          <a:noFill/>
          <a:ln w="12700">
            <a:noFill/>
            <a:prstDash val="dash"/>
          </a:ln>
        </p:spPr>
        <p:txBody>
          <a:bodyPr wrap="none" rtlCol="0">
            <a:spAutoFit/>
          </a:bodyPr>
          <a:lstStyle/>
          <a:p>
            <a:pPr algn="ctr"/>
            <a:r>
              <a:rPr lang="en-GB" sz="800" dirty="0">
                <a:solidFill>
                  <a:schemeClr val="accent2"/>
                </a:solidFill>
                <a:latin typeface="Calibri" panose="020F0502020204030204" pitchFamily="34" charset="0"/>
                <a:cs typeface="Calibri" panose="020F0502020204030204" pitchFamily="34" charset="0"/>
              </a:rPr>
              <a:t>Divergent suggestion</a:t>
            </a:r>
            <a:endParaRPr lang="en-SE" sz="800" dirty="0">
              <a:solidFill>
                <a:schemeClr val="accent2"/>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30FCEC4-446E-5C38-CC1A-457D85FE886B}"/>
              </a:ext>
            </a:extLst>
          </p:cNvPr>
          <p:cNvSpPr txBox="1"/>
          <p:nvPr/>
        </p:nvSpPr>
        <p:spPr>
          <a:xfrm>
            <a:off x="6441955" y="1130301"/>
            <a:ext cx="4572000" cy="3416320"/>
          </a:xfrm>
          <a:prstGeom prst="rect">
            <a:avLst/>
          </a:prstGeom>
          <a:noFill/>
        </p:spPr>
        <p:txBody>
          <a:bodyPr wrap="square">
            <a:spAutoFit/>
          </a:bodyPr>
          <a:lstStyle/>
          <a:p>
            <a:r>
              <a:rPr lang="en-US" sz="7200" dirty="0"/>
              <a:t>EC-assumption-buster-4</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ED0066BF-9008-7273-FFB0-7687FF70EC6A}"/>
              </a:ext>
            </a:extLst>
          </p:cNvPr>
          <p:cNvSpPr txBox="1"/>
          <p:nvPr/>
        </p:nvSpPr>
        <p:spPr>
          <a:xfrm>
            <a:off x="3726325" y="3680856"/>
            <a:ext cx="1060040" cy="215444"/>
          </a:xfrm>
          <a:prstGeom prst="rect">
            <a:avLst/>
          </a:prstGeom>
          <a:noFill/>
          <a:ln w="12700">
            <a:noFill/>
            <a:prstDash val="dash"/>
          </a:ln>
        </p:spPr>
        <p:txBody>
          <a:bodyPr wrap="square">
            <a:spAutoFit/>
          </a:bodyPr>
          <a:lstStyle/>
          <a:p>
            <a:pPr algn="ctr"/>
            <a:r>
              <a:rPr lang="en-GB" sz="800" dirty="0">
                <a:solidFill>
                  <a:schemeClr val="accent5">
                    <a:lumMod val="60000"/>
                    <a:lumOff val="40000"/>
                  </a:schemeClr>
                </a:solidFill>
                <a:latin typeface="Calibri" panose="020F0502020204030204" pitchFamily="34" charset="0"/>
                <a:cs typeface="Calibri" panose="020F0502020204030204" pitchFamily="34" charset="0"/>
              </a:rPr>
              <a:t>Adversarial feedback</a:t>
            </a:r>
            <a:endParaRPr lang="en-SE" sz="800" dirty="0">
              <a:solidFill>
                <a:schemeClr val="accent5">
                  <a:lumMod val="60000"/>
                  <a:lumOff val="40000"/>
                </a:schemeClr>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2484C98F-0C09-D5ED-21B6-9C06AB7D0D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4915" y="1893974"/>
            <a:ext cx="231730" cy="210626"/>
          </a:xfrm>
          <a:prstGeom prst="rect">
            <a:avLst/>
          </a:prstGeom>
        </p:spPr>
      </p:pic>
      <p:pic>
        <p:nvPicPr>
          <p:cNvPr id="3" name="Graphic 2" descr="Programmer female with solid fill">
            <a:extLst>
              <a:ext uri="{FF2B5EF4-FFF2-40B4-BE49-F238E27FC236}">
                <a16:creationId xmlns:a16="http://schemas.microsoft.com/office/drawing/2014/main" id="{F73FD713-8118-6B33-9AC4-9CB7D3C739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915" y="1130487"/>
            <a:ext cx="201356" cy="210598"/>
          </a:xfrm>
          <a:prstGeom prst="rect">
            <a:avLst/>
          </a:prstGeom>
        </p:spPr>
      </p:pic>
    </p:spTree>
    <p:extLst>
      <p:ext uri="{BB962C8B-B14F-4D97-AF65-F5344CB8AC3E}">
        <p14:creationId xmlns:p14="http://schemas.microsoft.com/office/powerpoint/2010/main" val="918749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FFDDF-7131-FAEE-F8DC-FD915DDF11D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959E6D-63A4-8053-E4D4-DB6B7A0BCB72}"/>
              </a:ext>
            </a:extLst>
          </p:cNvPr>
          <p:cNvSpPr/>
          <p:nvPr/>
        </p:nvSpPr>
        <p:spPr>
          <a:xfrm>
            <a:off x="953110" y="1893980"/>
            <a:ext cx="2645496" cy="236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both UI panels share a single in-memory model.</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It assumes cancel, filter flips, and sort reapplication will expose stale reservation state per FR-17.</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Assumes immediate synchronous propagation; asynchronous updates or debounced renders could hide inconsistencies.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FR-8 requires remaining slots update; UI caching could temporarily contradict that requirement.</a:t>
            </a:r>
          </a:p>
          <a:p>
            <a:r>
              <a:rPr lang="en-US" sz="800" dirty="0">
                <a:solidFill>
                  <a:schemeClr val="tx1"/>
                </a:solidFill>
                <a:latin typeface="Calibri" panose="020F0502020204030204" pitchFamily="34" charset="0"/>
                <a:cs typeface="Calibri" panose="020F0502020204030204" pitchFamily="34" charset="0"/>
              </a:rPr>
              <a:t>Persona-based debating:</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an admin persona: does reordering rebinding preserve reservation identity, or create stale indices?</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exact invariants are considered authoritative: counts, badges, or underlying reservation arrays?</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Please justify whether filter or sort changes must update visible reservation state.</a:t>
            </a:r>
            <a:endParaRPr lang="en-GB" sz="800" dirty="0">
              <a:solidFill>
                <a:schemeClr val="accent2"/>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BF892111-A5A3-C8DC-07CC-605CC9042DC3}"/>
              </a:ext>
            </a:extLst>
          </p:cNvPr>
          <p:cNvSpPr/>
          <p:nvPr/>
        </p:nvSpPr>
        <p:spPr>
          <a:xfrm>
            <a:off x="953656" y="1130301"/>
            <a:ext cx="2644950" cy="76367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keeping both panels visible, switching users (admin and normal user) around and do cancel then flip filters and sort to see if reservation state leaks. What invariants should I check to confirm whether any stale state is persisting and how can I avoid false alarms?</a:t>
            </a:r>
          </a:p>
        </p:txBody>
      </p:sp>
      <p:sp>
        <p:nvSpPr>
          <p:cNvPr id="13" name="TextBox 12">
            <a:extLst>
              <a:ext uri="{FF2B5EF4-FFF2-40B4-BE49-F238E27FC236}">
                <a16:creationId xmlns:a16="http://schemas.microsoft.com/office/drawing/2014/main" id="{0E630939-CEB7-F00E-A4C6-B48DDC2222F8}"/>
              </a:ext>
            </a:extLst>
          </p:cNvPr>
          <p:cNvSpPr txBox="1"/>
          <p:nvPr/>
        </p:nvSpPr>
        <p:spPr>
          <a:xfrm>
            <a:off x="3726325" y="4153584"/>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5746113E-37A0-BD32-6D1A-45175E34B8AB}"/>
              </a:ext>
            </a:extLst>
          </p:cNvPr>
          <p:cNvSpPr txBox="1"/>
          <p:nvPr/>
        </p:nvSpPr>
        <p:spPr>
          <a:xfrm>
            <a:off x="6794380" y="1341085"/>
            <a:ext cx="4572000" cy="3416320"/>
          </a:xfrm>
          <a:prstGeom prst="rect">
            <a:avLst/>
          </a:prstGeom>
          <a:noFill/>
        </p:spPr>
        <p:txBody>
          <a:bodyPr wrap="square">
            <a:spAutoFit/>
          </a:bodyPr>
          <a:lstStyle/>
          <a:p>
            <a:r>
              <a:rPr lang="en-US" sz="7200" dirty="0"/>
              <a:t>EC-assumption-buster-5</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B90B9F7-83FE-FF0A-57F4-05BAF81DA5C1}"/>
              </a:ext>
            </a:extLst>
          </p:cNvPr>
          <p:cNvSpPr txBox="1"/>
          <p:nvPr/>
        </p:nvSpPr>
        <p:spPr>
          <a:xfrm>
            <a:off x="3726325" y="3917933"/>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FE5E015B-9B19-0337-21A8-DF3E489DA5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1893974"/>
            <a:ext cx="231730" cy="210626"/>
          </a:xfrm>
          <a:prstGeom prst="rect">
            <a:avLst/>
          </a:prstGeom>
        </p:spPr>
      </p:pic>
      <p:pic>
        <p:nvPicPr>
          <p:cNvPr id="3" name="Graphic 2" descr="Programmer female with solid fill">
            <a:extLst>
              <a:ext uri="{FF2B5EF4-FFF2-40B4-BE49-F238E27FC236}">
                <a16:creationId xmlns:a16="http://schemas.microsoft.com/office/drawing/2014/main" id="{63AB0C37-2A5D-B58A-D53B-736754F021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1130487"/>
            <a:ext cx="201356" cy="210598"/>
          </a:xfrm>
          <a:prstGeom prst="rect">
            <a:avLst/>
          </a:prstGeom>
        </p:spPr>
      </p:pic>
    </p:spTree>
    <p:extLst>
      <p:ext uri="{BB962C8B-B14F-4D97-AF65-F5344CB8AC3E}">
        <p14:creationId xmlns:p14="http://schemas.microsoft.com/office/powerpoint/2010/main" val="3940028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68F80-AE4B-F7A0-96F8-452A6D0270B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9FAFEDB-C372-BDB6-9D56-D2A92A5C9FD2}"/>
              </a:ext>
            </a:extLst>
          </p:cNvPr>
          <p:cNvSpPr/>
          <p:nvPr/>
        </p:nvSpPr>
        <p:spPr>
          <a:xfrm>
            <a:off x="953110" y="1893980"/>
            <a:ext cx="2645496" cy="25827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a visible dual-panel UI and rapid user switching.</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It expects cancel, then toggling filters and sort, will expose stale reservation state.</a:t>
            </a:r>
          </a:p>
          <a:p>
            <a:r>
              <a:rPr lang="en-US" sz="800" dirty="0">
                <a:solidFill>
                  <a:schemeClr val="tx1"/>
                </a:solidFill>
                <a:latin typeface="Calibri" panose="020F0502020204030204" pitchFamily="34" charset="0"/>
                <a:cs typeface="Calibri" panose="020F0502020204030204" pitchFamily="34" charset="0"/>
              </a:rPr>
              <a:t>Adversarial Critique—Assumption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Assumes UI actions immediately mutate shared in-memory state without asynchronous delays or reconciliation.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Ignores FR-17 and FR-19/20 interactions where filters persist or reapply, causing expected view changes.</a:t>
            </a:r>
          </a:p>
          <a:p>
            <a:r>
              <a:rPr lang="en-US" sz="800" dirty="0">
                <a:solidFill>
                  <a:schemeClr val="tx1"/>
                </a:solidFill>
                <a:latin typeface="Calibri" panose="020F0502020204030204" pitchFamily="34" charset="0"/>
                <a:cs typeface="Calibri" panose="020F0502020204030204" pitchFamily="34" charset="0"/>
              </a:rPr>
              <a:t>Persona-Based Debating:</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an admin: will manual overrides instantly alter ordering across both panels?</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 regular user: can cached UI state falsely appear as leaked reservation data?</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Which concrete invariants tie visible UI, in-memory model, and active user identity?</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Can the approach precisely define acceptable transient inconsistencies versus true leaks?</a:t>
            </a:r>
            <a:endParaRPr lang="en-GB" sz="800" dirty="0">
              <a:solidFill>
                <a:schemeClr val="accent2"/>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3B7CBC21-DF07-CDD6-7021-756239B8E7E0}"/>
              </a:ext>
            </a:extLst>
          </p:cNvPr>
          <p:cNvSpPr/>
          <p:nvPr/>
        </p:nvSpPr>
        <p:spPr>
          <a:xfrm>
            <a:off x="953656" y="1130301"/>
            <a:ext cx="2644950" cy="76367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keeping both panels visible, switching users (admin and normal user) around and do cancel then flip filters and sort to see if reservation state leaks. What invariants should I check to confirm whether any stale state is persisting and how can I avoid false alarms?</a:t>
            </a:r>
          </a:p>
        </p:txBody>
      </p:sp>
      <p:sp>
        <p:nvSpPr>
          <p:cNvPr id="13" name="TextBox 12">
            <a:extLst>
              <a:ext uri="{FF2B5EF4-FFF2-40B4-BE49-F238E27FC236}">
                <a16:creationId xmlns:a16="http://schemas.microsoft.com/office/drawing/2014/main" id="{DE5AE60D-F917-9D13-3ECF-0641030175D9}"/>
              </a:ext>
            </a:extLst>
          </p:cNvPr>
          <p:cNvSpPr txBox="1"/>
          <p:nvPr/>
        </p:nvSpPr>
        <p:spPr>
          <a:xfrm>
            <a:off x="3726325" y="4261306"/>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8EEE41AE-75CB-1A3D-181E-1CDA533F9AED}"/>
              </a:ext>
            </a:extLst>
          </p:cNvPr>
          <p:cNvSpPr txBox="1"/>
          <p:nvPr/>
        </p:nvSpPr>
        <p:spPr>
          <a:xfrm>
            <a:off x="5413255" y="971753"/>
            <a:ext cx="4572000" cy="3416320"/>
          </a:xfrm>
          <a:prstGeom prst="rect">
            <a:avLst/>
          </a:prstGeom>
          <a:noFill/>
        </p:spPr>
        <p:txBody>
          <a:bodyPr wrap="square">
            <a:spAutoFit/>
          </a:bodyPr>
          <a:lstStyle/>
          <a:p>
            <a:r>
              <a:rPr lang="en-US" sz="7200" dirty="0"/>
              <a:t>EC-assumption-buster-6</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320D91CE-352B-720B-20D3-BDEBB24A867C}"/>
              </a:ext>
            </a:extLst>
          </p:cNvPr>
          <p:cNvSpPr txBox="1"/>
          <p:nvPr/>
        </p:nvSpPr>
        <p:spPr>
          <a:xfrm>
            <a:off x="3726325" y="3917933"/>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7CA5CC9F-CECA-E74B-A69E-A235E0D23F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1893974"/>
            <a:ext cx="231730" cy="210626"/>
          </a:xfrm>
          <a:prstGeom prst="rect">
            <a:avLst/>
          </a:prstGeom>
        </p:spPr>
      </p:pic>
      <p:pic>
        <p:nvPicPr>
          <p:cNvPr id="3" name="Graphic 2" descr="Programmer female with solid fill">
            <a:extLst>
              <a:ext uri="{FF2B5EF4-FFF2-40B4-BE49-F238E27FC236}">
                <a16:creationId xmlns:a16="http://schemas.microsoft.com/office/drawing/2014/main" id="{A8188AC4-D8EE-B3B4-4296-52A3685B71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1130487"/>
            <a:ext cx="201356" cy="210598"/>
          </a:xfrm>
          <a:prstGeom prst="rect">
            <a:avLst/>
          </a:prstGeom>
        </p:spPr>
      </p:pic>
    </p:spTree>
    <p:extLst>
      <p:ext uri="{BB962C8B-B14F-4D97-AF65-F5344CB8AC3E}">
        <p14:creationId xmlns:p14="http://schemas.microsoft.com/office/powerpoint/2010/main" val="3201630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E71FF-6A2A-EB69-CAB4-1B3A957231B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1EB4393-1629-2B3D-2CC4-1323FD9EF9C4}"/>
              </a:ext>
            </a:extLst>
          </p:cNvPr>
          <p:cNvSpPr/>
          <p:nvPr/>
        </p:nvSpPr>
        <p:spPr>
          <a:xfrm>
            <a:off x="953110" y="1703480"/>
            <a:ext cx="2645496" cy="263039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assumptions elicited</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Inferred logic: canceling then re-reserving should produce identical class and reservation state.</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Assumptions: immediate slot release, stable user association, authoritative UI, and durable in-memory state per requirements.</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Race conditions and timing may leave transient reservations visible after cancellation.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In-memory storage means reloads or navigation resets hide persistence bugs or create false negatives.</a:t>
            </a:r>
          </a:p>
          <a:p>
            <a:r>
              <a:rPr lang="en-US" sz="800" dirty="0">
                <a:solidFill>
                  <a:schemeClr val="tx1"/>
                </a:solidFill>
                <a:latin typeface="Calibri" panose="020F0502020204030204" pitchFamily="34" charset="0"/>
                <a:cs typeface="Calibri" panose="020F0502020204030204" pitchFamily="34" charset="0"/>
              </a:rPr>
              <a:t>Persona-based challenge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an admin, would manual capacity overrides create inconsistent slot accounting?</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As a concurrent user, could a race allow double-booking the same released slot?</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exact symptoms define "lingering state" in the observed behavior?</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List preconditions, timing details, and any UI or console evidence for clarification.</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1C89F420-D0CC-7AC2-EFA9-D7021B292738}"/>
              </a:ext>
            </a:extLst>
          </p:cNvPr>
          <p:cNvSpPr/>
          <p:nvPr/>
        </p:nvSpPr>
        <p:spPr>
          <a:xfrm>
            <a:off x="953656" y="1130301"/>
            <a:ext cx="2644950" cy="57900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trying to distinguish if some state still lingers after a reservation is canceled then reserved again. What are the main blind spots or limitations in my testing logic?</a:t>
            </a:r>
          </a:p>
        </p:txBody>
      </p:sp>
      <p:sp>
        <p:nvSpPr>
          <p:cNvPr id="13" name="TextBox 12">
            <a:extLst>
              <a:ext uri="{FF2B5EF4-FFF2-40B4-BE49-F238E27FC236}">
                <a16:creationId xmlns:a16="http://schemas.microsoft.com/office/drawing/2014/main" id="{4460783C-4B68-94D8-E12E-EC4CCA87DFCE}"/>
              </a:ext>
            </a:extLst>
          </p:cNvPr>
          <p:cNvSpPr txBox="1"/>
          <p:nvPr/>
        </p:nvSpPr>
        <p:spPr>
          <a:xfrm>
            <a:off x="3726325" y="4109843"/>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C1B78DC4-3B7B-6DED-B0C8-39CD35DE0A5A}"/>
              </a:ext>
            </a:extLst>
          </p:cNvPr>
          <p:cNvSpPr txBox="1"/>
          <p:nvPr/>
        </p:nvSpPr>
        <p:spPr>
          <a:xfrm>
            <a:off x="6666344" y="1235138"/>
            <a:ext cx="4572000" cy="3416320"/>
          </a:xfrm>
          <a:prstGeom prst="rect">
            <a:avLst/>
          </a:prstGeom>
          <a:noFill/>
        </p:spPr>
        <p:txBody>
          <a:bodyPr wrap="square">
            <a:spAutoFit/>
          </a:bodyPr>
          <a:lstStyle/>
          <a:p>
            <a:r>
              <a:rPr lang="en-US" sz="7200" dirty="0"/>
              <a:t>EC-assumption-buster-1</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F8AD5C00-CDA6-A888-B445-AF26411EAE96}"/>
              </a:ext>
            </a:extLst>
          </p:cNvPr>
          <p:cNvSpPr txBox="1"/>
          <p:nvPr/>
        </p:nvSpPr>
        <p:spPr>
          <a:xfrm>
            <a:off x="3726325" y="3766470"/>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9D45B48A-6FE3-B764-197C-7F6F14441C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1703474"/>
            <a:ext cx="231730" cy="210626"/>
          </a:xfrm>
          <a:prstGeom prst="rect">
            <a:avLst/>
          </a:prstGeom>
        </p:spPr>
      </p:pic>
      <p:pic>
        <p:nvPicPr>
          <p:cNvPr id="3" name="Graphic 2" descr="Programmer female with solid fill">
            <a:extLst>
              <a:ext uri="{FF2B5EF4-FFF2-40B4-BE49-F238E27FC236}">
                <a16:creationId xmlns:a16="http://schemas.microsoft.com/office/drawing/2014/main" id="{F1C50887-4511-2D87-B0AB-EE3D9E8D2B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1130487"/>
            <a:ext cx="201356" cy="210598"/>
          </a:xfrm>
          <a:prstGeom prst="rect">
            <a:avLst/>
          </a:prstGeom>
        </p:spPr>
      </p:pic>
    </p:spTree>
    <p:extLst>
      <p:ext uri="{BB962C8B-B14F-4D97-AF65-F5344CB8AC3E}">
        <p14:creationId xmlns:p14="http://schemas.microsoft.com/office/powerpoint/2010/main" val="1001231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23C13-E848-729B-74B6-9A6BF1F3F4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71DB630-00A6-8D70-BFF6-C023A6DB8F33}"/>
              </a:ext>
            </a:extLst>
          </p:cNvPr>
          <p:cNvSpPr/>
          <p:nvPr/>
        </p:nvSpPr>
        <p:spPr>
          <a:xfrm>
            <a:off x="953110" y="1703480"/>
            <a:ext cx="2645496" cy="27732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Hypothesis: canceling then re-reserving leaves residual state affecting slot counts or status.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Assumes cancellation fully removes reservation record and the UI immediately reflects in-memory model per requirements.</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Ignored race conditions and concurrent users can cause transient or persistent slot mismatches.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Assumes UI refresh, identity changes, admin overrides, and cancellation limits are all consistent.</a:t>
            </a:r>
          </a:p>
          <a:p>
            <a:r>
              <a:rPr lang="en-US" sz="800" dirty="0">
                <a:solidFill>
                  <a:schemeClr val="tx1"/>
                </a:solidFill>
                <a:latin typeface="Calibri" panose="020F0502020204030204" pitchFamily="34" charset="0"/>
                <a:cs typeface="Calibri" panose="020F0502020204030204" pitchFamily="34" charset="0"/>
              </a:rPr>
              <a:t>Persona-based debating (questions)</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an administrator persona, could manual capacity overrides leave stale remaining-slots after cancel and reseat?</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an attacker persona, can crafted sequences exploit object reuse to persist unauthorized state?</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Which observables will prove cancellation removed all model and UI state unequivocally?</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What boundary cases, timing windows, or role interactions does the current logic fail to consider?</a:t>
            </a:r>
            <a:endParaRPr lang="en-GB" sz="800" dirty="0">
              <a:solidFill>
                <a:schemeClr val="accent2"/>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14C1B79-04D6-68CF-F414-F01AAA6798DF}"/>
              </a:ext>
            </a:extLst>
          </p:cNvPr>
          <p:cNvSpPr/>
          <p:nvPr/>
        </p:nvSpPr>
        <p:spPr>
          <a:xfrm>
            <a:off x="953656" y="1130301"/>
            <a:ext cx="2644950" cy="57900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trying to distinguish if some state still lingers after a reservation is canceled then reserved again. What are the main blind spots or limitations in my testing logic?</a:t>
            </a:r>
          </a:p>
        </p:txBody>
      </p:sp>
      <p:sp>
        <p:nvSpPr>
          <p:cNvPr id="13" name="TextBox 12">
            <a:extLst>
              <a:ext uri="{FF2B5EF4-FFF2-40B4-BE49-F238E27FC236}">
                <a16:creationId xmlns:a16="http://schemas.microsoft.com/office/drawing/2014/main" id="{A80FF61C-7CBF-DC41-9E8A-7564B8510724}"/>
              </a:ext>
            </a:extLst>
          </p:cNvPr>
          <p:cNvSpPr txBox="1"/>
          <p:nvPr/>
        </p:nvSpPr>
        <p:spPr>
          <a:xfrm>
            <a:off x="3726325" y="4261306"/>
            <a:ext cx="1063112" cy="215444"/>
          </a:xfrm>
          <a:prstGeom prst="rect">
            <a:avLst/>
          </a:prstGeom>
          <a:noFill/>
          <a:ln w="12700">
            <a:noFill/>
            <a:prstDash val="dash"/>
          </a:ln>
        </p:spPr>
        <p:txBody>
          <a:bodyPr wrap="none" rtlCol="0">
            <a:spAutoFit/>
          </a:bodyPr>
          <a:lstStyle/>
          <a:p>
            <a:pPr algn="ctr"/>
            <a:r>
              <a:rPr lang="en-GB" sz="800" dirty="0">
                <a:latin typeface="Calibri" panose="020F0502020204030204" pitchFamily="34" charset="0"/>
                <a:cs typeface="Calibri" panose="020F0502020204030204" pitchFamily="34" charset="0"/>
              </a:rPr>
              <a:t>Divergent suggestion</a:t>
            </a:r>
            <a:endParaRPr lang="en-SE"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F2941FA-BFEB-E9F8-5243-B2F1B7744A89}"/>
              </a:ext>
            </a:extLst>
          </p:cNvPr>
          <p:cNvSpPr txBox="1"/>
          <p:nvPr/>
        </p:nvSpPr>
        <p:spPr>
          <a:xfrm>
            <a:off x="6584830" y="866454"/>
            <a:ext cx="4572000" cy="3416320"/>
          </a:xfrm>
          <a:prstGeom prst="rect">
            <a:avLst/>
          </a:prstGeom>
          <a:noFill/>
        </p:spPr>
        <p:txBody>
          <a:bodyPr wrap="square">
            <a:spAutoFit/>
          </a:bodyPr>
          <a:lstStyle/>
          <a:p>
            <a:r>
              <a:rPr lang="en-US" sz="7200" dirty="0"/>
              <a:t>EC-assumption-buster-2</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1036FA6-459C-B709-1855-106985380106}"/>
              </a:ext>
            </a:extLst>
          </p:cNvPr>
          <p:cNvSpPr txBox="1"/>
          <p:nvPr/>
        </p:nvSpPr>
        <p:spPr>
          <a:xfrm>
            <a:off x="3726325" y="3917933"/>
            <a:ext cx="1060040" cy="215444"/>
          </a:xfrm>
          <a:prstGeom prst="rect">
            <a:avLst/>
          </a:prstGeom>
          <a:noFill/>
          <a:ln w="12700">
            <a:noFill/>
            <a:prstDash val="dash"/>
          </a:ln>
        </p:spPr>
        <p:txBody>
          <a:bodyPr wrap="square">
            <a:spAutoFit/>
          </a:bodyPr>
          <a:lstStyle/>
          <a:p>
            <a:pPr algn="ctr"/>
            <a:r>
              <a:rPr lang="en-GB" sz="800" dirty="0">
                <a:latin typeface="Calibri" panose="020F0502020204030204" pitchFamily="34" charset="0"/>
                <a:cs typeface="Calibri" panose="020F0502020204030204" pitchFamily="34" charset="0"/>
              </a:rPr>
              <a:t>Adversarial feedback</a:t>
            </a:r>
            <a:endParaRPr lang="en-SE" sz="800" dirty="0">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1F9485CF-0A38-46B2-1A2C-4290694772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1703474"/>
            <a:ext cx="231730" cy="210626"/>
          </a:xfrm>
          <a:prstGeom prst="rect">
            <a:avLst/>
          </a:prstGeom>
        </p:spPr>
      </p:pic>
      <p:pic>
        <p:nvPicPr>
          <p:cNvPr id="3" name="Graphic 2" descr="Programmer female with solid fill">
            <a:extLst>
              <a:ext uri="{FF2B5EF4-FFF2-40B4-BE49-F238E27FC236}">
                <a16:creationId xmlns:a16="http://schemas.microsoft.com/office/drawing/2014/main" id="{E32D3527-1AAB-4B02-2350-FADA3F30D7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1130487"/>
            <a:ext cx="201356" cy="210598"/>
          </a:xfrm>
          <a:prstGeom prst="rect">
            <a:avLst/>
          </a:prstGeom>
        </p:spPr>
      </p:pic>
    </p:spTree>
    <p:extLst>
      <p:ext uri="{BB962C8B-B14F-4D97-AF65-F5344CB8AC3E}">
        <p14:creationId xmlns:p14="http://schemas.microsoft.com/office/powerpoint/2010/main" val="2326351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A36E8-898C-F9FF-2AC2-254F7801B48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10B3BCE-4E32-5786-21F1-C265F0B3D50C}"/>
              </a:ext>
            </a:extLst>
          </p:cNvPr>
          <p:cNvSpPr/>
          <p:nvPr/>
        </p:nvSpPr>
        <p:spPr>
          <a:xfrm>
            <a:off x="953110" y="1703479"/>
            <a:ext cx="2645496" cy="307588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canceling then re-reserving leaves no prior reservation state behind.</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Implicitly assumes in-memory UI updates fully reset reservation fields, counts, and </a:t>
            </a:r>
            <a:r>
              <a:rPr lang="en-US" sz="800" dirty="0" err="1">
                <a:solidFill>
                  <a:schemeClr val="tx1"/>
                </a:solidFill>
                <a:latin typeface="Calibri" panose="020F0502020204030204" pitchFamily="34" charset="0"/>
                <a:cs typeface="Calibri" panose="020F0502020204030204" pitchFamily="34" charset="0"/>
              </a:rPr>
              <a:t>metadata.dversarial</a:t>
            </a:r>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Critique—Assumption Weaknesses: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requirements state the system maintains in-memory data, so state is session-scoped and fragile.</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No concurrency rules or persistence are specified. Cross-tab or simultaneous actions may leave inconsistent or duplicated reservations.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specification lacks details on reservation identity or audit metadata, so canceled reservations might retain timestamps, IDs, or flags that reappear.</a:t>
            </a:r>
          </a:p>
          <a:p>
            <a:r>
              <a:rPr lang="en-US" sz="800" dirty="0">
                <a:solidFill>
                  <a:schemeClr val="tx1"/>
                </a:solidFill>
                <a:latin typeface="Calibri" panose="020F0502020204030204" pitchFamily="34" charset="0"/>
                <a:cs typeface="Calibri" panose="020F0502020204030204" pitchFamily="34" charset="0"/>
              </a:rPr>
              <a:t>Persona-Based Debating:</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an administrator persona: could manual capacity overrides leave canceled slots invisible or unreleased?</a:t>
            </a:r>
          </a:p>
          <a:p>
            <a:pPr marL="171450" indent="-171450">
              <a:buFont typeface="Arial" panose="020B0604020202020204" pitchFamily="34" charset="0"/>
              <a:buChar char="•"/>
            </a:pPr>
            <a:r>
              <a:rPr lang="en-US" sz="800" dirty="0">
                <a:solidFill>
                  <a:schemeClr val="accent6"/>
                </a:solidFill>
                <a:latin typeface="Calibri" panose="020F0502020204030204" pitchFamily="34" charset="0"/>
                <a:cs typeface="Calibri" panose="020F0502020204030204" pitchFamily="34" charset="0"/>
              </a:rPr>
              <a:t>From a concurrent-user persona: might simultaneous reservations race to consume a just-canceled slot before UI state updates?</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specific observable behaviors will be used to claim lingering state after cancel-and-</a:t>
            </a:r>
            <a:r>
              <a:rPr lang="en-US" sz="800" dirty="0" err="1">
                <a:solidFill>
                  <a:schemeClr val="accent2"/>
                </a:solidFill>
                <a:latin typeface="Calibri" panose="020F0502020204030204" pitchFamily="34" charset="0"/>
                <a:cs typeface="Calibri" panose="020F0502020204030204" pitchFamily="34" charset="0"/>
              </a:rPr>
              <a:t>rereserve</a:t>
            </a:r>
            <a:r>
              <a:rPr lang="en-US" sz="800" dirty="0">
                <a:solidFill>
                  <a:schemeClr val="accent2"/>
                </a:solidFill>
                <a:latin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What hidden dependencies or environment constraints is the testing logic implicitly trusting?</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1CD3345D-F737-8F0D-8F1D-45473CFBE7B2}"/>
              </a:ext>
            </a:extLst>
          </p:cNvPr>
          <p:cNvSpPr/>
          <p:nvPr/>
        </p:nvSpPr>
        <p:spPr>
          <a:xfrm>
            <a:off x="953656" y="1130301"/>
            <a:ext cx="2644950" cy="57900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trying to distinguish if some state still lingers after a reservation is canceled then reserved again. What are the main blind spots or limitations in my testing logic?</a:t>
            </a:r>
          </a:p>
        </p:txBody>
      </p:sp>
      <p:sp>
        <p:nvSpPr>
          <p:cNvPr id="13" name="TextBox 12">
            <a:extLst>
              <a:ext uri="{FF2B5EF4-FFF2-40B4-BE49-F238E27FC236}">
                <a16:creationId xmlns:a16="http://schemas.microsoft.com/office/drawing/2014/main" id="{9464BA1A-FCBF-A674-3774-2C4F5D192F5F}"/>
              </a:ext>
            </a:extLst>
          </p:cNvPr>
          <p:cNvSpPr txBox="1"/>
          <p:nvPr/>
        </p:nvSpPr>
        <p:spPr>
          <a:xfrm>
            <a:off x="3726325" y="4261306"/>
            <a:ext cx="1063112" cy="215444"/>
          </a:xfrm>
          <a:prstGeom prst="rect">
            <a:avLst/>
          </a:prstGeom>
          <a:noFill/>
          <a:ln w="12700">
            <a:noFill/>
            <a:prstDash val="dash"/>
          </a:ln>
        </p:spPr>
        <p:txBody>
          <a:bodyPr wrap="none" rtlCol="0">
            <a:spAutoFit/>
          </a:bodyPr>
          <a:lstStyle/>
          <a:p>
            <a:pPr algn="ctr"/>
            <a:r>
              <a:rPr lang="en-GB" sz="800" dirty="0">
                <a:solidFill>
                  <a:schemeClr val="accent6"/>
                </a:solidFill>
                <a:latin typeface="Calibri" panose="020F0502020204030204" pitchFamily="34" charset="0"/>
                <a:cs typeface="Calibri" panose="020F0502020204030204" pitchFamily="34" charset="0"/>
              </a:rPr>
              <a:t>Divergent suggestion</a:t>
            </a:r>
            <a:endParaRPr lang="en-SE" sz="800" dirty="0">
              <a:solidFill>
                <a:schemeClr val="accent6"/>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0D2DDCEA-0655-DDE4-E526-0882B77BD5F2}"/>
              </a:ext>
            </a:extLst>
          </p:cNvPr>
          <p:cNvSpPr txBox="1"/>
          <p:nvPr/>
        </p:nvSpPr>
        <p:spPr>
          <a:xfrm>
            <a:off x="5899030" y="1038757"/>
            <a:ext cx="4572000" cy="3416320"/>
          </a:xfrm>
          <a:prstGeom prst="rect">
            <a:avLst/>
          </a:prstGeom>
          <a:noFill/>
        </p:spPr>
        <p:txBody>
          <a:bodyPr wrap="square">
            <a:spAutoFit/>
          </a:bodyPr>
          <a:lstStyle/>
          <a:p>
            <a:r>
              <a:rPr lang="en-US" sz="7200" dirty="0"/>
              <a:t>EC-assumption-buster-3</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E262DD5B-D3C6-C34E-BF09-6CD1595ED50A}"/>
              </a:ext>
            </a:extLst>
          </p:cNvPr>
          <p:cNvSpPr txBox="1"/>
          <p:nvPr/>
        </p:nvSpPr>
        <p:spPr>
          <a:xfrm>
            <a:off x="3726325" y="3917933"/>
            <a:ext cx="1060040" cy="215444"/>
          </a:xfrm>
          <a:prstGeom prst="rect">
            <a:avLst/>
          </a:prstGeom>
          <a:noFill/>
          <a:ln w="12700">
            <a:noFill/>
            <a:prstDash val="dash"/>
          </a:ln>
        </p:spPr>
        <p:txBody>
          <a:bodyPr wrap="square">
            <a:spAutoFit/>
          </a:bodyPr>
          <a:lstStyle/>
          <a:p>
            <a:pPr algn="ctr"/>
            <a:r>
              <a:rPr lang="en-GB" sz="800" dirty="0">
                <a:solidFill>
                  <a:schemeClr val="accent2"/>
                </a:solidFill>
                <a:latin typeface="Calibri" panose="020F0502020204030204" pitchFamily="34" charset="0"/>
                <a:cs typeface="Calibri" panose="020F0502020204030204" pitchFamily="34" charset="0"/>
              </a:rPr>
              <a:t>Adversarial feedback</a:t>
            </a:r>
            <a:endParaRPr lang="en-SE" sz="800" dirty="0">
              <a:solidFill>
                <a:schemeClr val="accent2"/>
              </a:solidFill>
              <a:latin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5EB6E81E-28FF-9BA4-D9AC-6C4A6BB18D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1703474"/>
            <a:ext cx="231730" cy="210626"/>
          </a:xfrm>
          <a:prstGeom prst="rect">
            <a:avLst/>
          </a:prstGeom>
        </p:spPr>
      </p:pic>
      <p:pic>
        <p:nvPicPr>
          <p:cNvPr id="3" name="Graphic 2" descr="Programmer female with solid fill">
            <a:extLst>
              <a:ext uri="{FF2B5EF4-FFF2-40B4-BE49-F238E27FC236}">
                <a16:creationId xmlns:a16="http://schemas.microsoft.com/office/drawing/2014/main" id="{A00ABCB6-57A1-BD40-6521-298B8BAFE1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1130487"/>
            <a:ext cx="201356" cy="210598"/>
          </a:xfrm>
          <a:prstGeom prst="rect">
            <a:avLst/>
          </a:prstGeom>
        </p:spPr>
      </p:pic>
    </p:spTree>
    <p:extLst>
      <p:ext uri="{BB962C8B-B14F-4D97-AF65-F5344CB8AC3E}">
        <p14:creationId xmlns:p14="http://schemas.microsoft.com/office/powerpoint/2010/main" val="1210100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359657-B0F0-2AFD-1E8E-0B67E11CF704}"/>
              </a:ext>
            </a:extLst>
          </p:cNvPr>
          <p:cNvSpPr/>
          <p:nvPr/>
        </p:nvSpPr>
        <p:spPr>
          <a:xfrm>
            <a:off x="5776710" y="1088181"/>
            <a:ext cx="2645496" cy="236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cs typeface="Calibri" panose="020F0502020204030204" pitchFamily="34" charset="0"/>
              </a:rPr>
              <a:t>Logic and assumption elicitation</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The approach assumes that keeping both panels visible surfaces cross-panel reservation state leaks.</a:t>
            </a:r>
          </a:p>
          <a:p>
            <a:pPr marL="171450" indent="-171450">
              <a:buFont typeface="Arial" panose="020B0604020202020204" pitchFamily="34" charset="0"/>
              <a:buChar char="•"/>
            </a:pPr>
            <a:r>
              <a:rPr lang="en-US" sz="800" dirty="0">
                <a:solidFill>
                  <a:schemeClr val="tx1"/>
                </a:solidFill>
                <a:latin typeface="Calibri" panose="020F0502020204030204" pitchFamily="34" charset="0"/>
                <a:cs typeface="Calibri" panose="020F0502020204030204" pitchFamily="34" charset="0"/>
              </a:rPr>
              <a:t>Implicit assumptions include immediate UI-model synchronization, isolated panel rendering, and in-memory authoritative state (FR-4, FR-17, FR-21).</a:t>
            </a:r>
          </a:p>
          <a:p>
            <a:r>
              <a:rPr lang="en-US" sz="800" dirty="0">
                <a:solidFill>
                  <a:schemeClr val="tx1"/>
                </a:solidFill>
                <a:latin typeface="Calibri" panose="020F0502020204030204" pitchFamily="34" charset="0"/>
                <a:cs typeface="Calibri" panose="020F0502020204030204" pitchFamily="34" charset="0"/>
              </a:rPr>
              <a:t>Adversarial critique — assumption weaknesses</a:t>
            </a:r>
          </a:p>
          <a:p>
            <a:pPr marL="171450" indent="-171450">
              <a:buFont typeface="Arial" panose="020B0604020202020204" pitchFamily="34" charset="0"/>
              <a:buChar char="•"/>
            </a:pPr>
            <a:r>
              <a:rPr lang="en-US" sz="800" dirty="0">
                <a:solidFill>
                  <a:schemeClr val="accent5">
                    <a:lumMod val="60000"/>
                    <a:lumOff val="40000"/>
                  </a:schemeClr>
                </a:solidFill>
                <a:latin typeface="Calibri" panose="020F0502020204030204" pitchFamily="34" charset="0"/>
                <a:cs typeface="Calibri" panose="020F0502020204030204" pitchFamily="34" charset="0"/>
              </a:rPr>
              <a:t>Fragile premises: visually consistent UIs do not guarantee authoritative model consistency.</a:t>
            </a:r>
          </a:p>
          <a:p>
            <a:pPr marL="171450" indent="-171450">
              <a:buFont typeface="Arial" panose="020B0604020202020204" pitchFamily="34" charset="0"/>
              <a:buChar char="•"/>
            </a:pPr>
            <a:r>
              <a:rPr lang="en-US" sz="800" dirty="0">
                <a:solidFill>
                  <a:schemeClr val="accent5">
                    <a:lumMod val="60000"/>
                    <a:lumOff val="40000"/>
                  </a:schemeClr>
                </a:solidFill>
                <a:latin typeface="Calibri" panose="020F0502020204030204" pitchFamily="34" charset="0"/>
                <a:cs typeface="Calibri" panose="020F0502020204030204" pitchFamily="34" charset="0"/>
              </a:rPr>
              <a:t>Timing issues, event batching, render </a:t>
            </a:r>
            <a:r>
              <a:rPr lang="en-US" sz="800" dirty="0" err="1">
                <a:solidFill>
                  <a:schemeClr val="accent5">
                    <a:lumMod val="60000"/>
                    <a:lumOff val="40000"/>
                  </a:schemeClr>
                </a:solidFill>
                <a:latin typeface="Calibri" panose="020F0502020204030204" pitchFamily="34" charset="0"/>
                <a:cs typeface="Calibri" panose="020F0502020204030204" pitchFamily="34" charset="0"/>
              </a:rPr>
              <a:t>memoization</a:t>
            </a:r>
            <a:r>
              <a:rPr lang="en-US" sz="800" dirty="0">
                <a:solidFill>
                  <a:schemeClr val="accent5">
                    <a:lumMod val="60000"/>
                    <a:lumOff val="40000"/>
                  </a:schemeClr>
                </a:solidFill>
                <a:latin typeface="Calibri" panose="020F0502020204030204" pitchFamily="34" charset="0"/>
                <a:cs typeface="Calibri" panose="020F0502020204030204" pitchFamily="34" charset="0"/>
              </a:rPr>
              <a:t>, or shared mutable objects can produce false positives.</a:t>
            </a:r>
          </a:p>
          <a:p>
            <a:r>
              <a:rPr lang="en-US" sz="800" dirty="0">
                <a:solidFill>
                  <a:schemeClr val="tx1"/>
                </a:solidFill>
                <a:latin typeface="Calibri" panose="020F0502020204030204" pitchFamily="34" charset="0"/>
                <a:cs typeface="Calibri" panose="020F0502020204030204" pitchFamily="34" charset="0"/>
              </a:rPr>
              <a:t>Persona-based debating</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From an administrator viewpoint, overrides or reorders can intentionally change counts.</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From a regular user's lens, preserved filters (FR-17) might mask expected list changes?</a:t>
            </a:r>
          </a:p>
          <a:p>
            <a:r>
              <a:rPr lang="en-US" sz="800" dirty="0">
                <a:solidFill>
                  <a:schemeClr val="tx1"/>
                </a:solidFill>
                <a:latin typeface="Calibri" panose="020F0502020204030204" pitchFamily="34" charset="0"/>
                <a:cs typeface="Calibri" panose="020F0502020204030204" pitchFamily="34" charset="0"/>
              </a:rPr>
              <a:t>Reflective challenge</a:t>
            </a:r>
          </a:p>
          <a:p>
            <a:pPr marL="171450" indent="-171450">
              <a:buFont typeface="Arial" panose="020B0604020202020204" pitchFamily="34" charset="0"/>
              <a:buChar char="•"/>
            </a:pPr>
            <a:r>
              <a:rPr lang="en-US" sz="800" dirty="0">
                <a:solidFill>
                  <a:schemeClr val="accent2"/>
                </a:solidFill>
                <a:latin typeface="Calibri" panose="020F0502020204030204" pitchFamily="34" charset="0"/>
                <a:cs typeface="Calibri" panose="020F0502020204030204" pitchFamily="34" charset="0"/>
              </a:rPr>
              <a:t>Which artifact is authoritative: in-memory model, displayed badges, or remaining-slot numbers?</a:t>
            </a:r>
            <a:endParaRPr lang="en-GB" sz="800" dirty="0">
              <a:solidFill>
                <a:schemeClr val="accent2"/>
              </a:solidFill>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D1E33BD3-69EA-219F-1C6A-97AC4F1F744D}"/>
              </a:ext>
            </a:extLst>
          </p:cNvPr>
          <p:cNvSpPr/>
          <p:nvPr/>
        </p:nvSpPr>
        <p:spPr>
          <a:xfrm>
            <a:off x="5777256" y="324502"/>
            <a:ext cx="2644950" cy="76367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@AssumptionBuster I’m keeping both panels visible, switching users (admin and normal user) around and do cancel then flip filters and sort to see if reservation state leaks. What invariants should I check to confirm whether any stale state is persisting and how can I avoid false alarms?</a:t>
            </a:r>
          </a:p>
        </p:txBody>
      </p:sp>
      <p:pic>
        <p:nvPicPr>
          <p:cNvPr id="6" name="Graphic 5" descr="Robot with solid fill">
            <a:extLst>
              <a:ext uri="{FF2B5EF4-FFF2-40B4-BE49-F238E27FC236}">
                <a16:creationId xmlns:a16="http://schemas.microsoft.com/office/drawing/2014/main" id="{376F3368-0A2B-91CE-F953-E54FC87DDF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58515" y="1088175"/>
            <a:ext cx="231730" cy="210626"/>
          </a:xfrm>
          <a:prstGeom prst="rect">
            <a:avLst/>
          </a:prstGeom>
        </p:spPr>
      </p:pic>
      <p:pic>
        <p:nvPicPr>
          <p:cNvPr id="7" name="Graphic 6" descr="Programmer female with solid fill">
            <a:extLst>
              <a:ext uri="{FF2B5EF4-FFF2-40B4-BE49-F238E27FC236}">
                <a16:creationId xmlns:a16="http://schemas.microsoft.com/office/drawing/2014/main" id="{79BCF20C-8510-CF8D-2521-5222A5D12B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515" y="324688"/>
            <a:ext cx="201356" cy="210598"/>
          </a:xfrm>
          <a:prstGeom prst="rect">
            <a:avLst/>
          </a:prstGeom>
        </p:spPr>
      </p:pic>
      <p:sp>
        <p:nvSpPr>
          <p:cNvPr id="8" name="Rectangle 7">
            <a:extLst>
              <a:ext uri="{FF2B5EF4-FFF2-40B4-BE49-F238E27FC236}">
                <a16:creationId xmlns:a16="http://schemas.microsoft.com/office/drawing/2014/main" id="{89DF9657-0D18-1538-C2FD-047026D69128}"/>
              </a:ext>
            </a:extLst>
          </p:cNvPr>
          <p:cNvSpPr/>
          <p:nvPr/>
        </p:nvSpPr>
        <p:spPr>
          <a:xfrm>
            <a:off x="2694824" y="797405"/>
            <a:ext cx="2645496" cy="54688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Calibri" panose="020F0502020204030204" pitchFamily="34" charset="0"/>
                <a:cs typeface="Calibri" panose="020F0502020204030204" pitchFamily="34" charset="0"/>
              </a:rPr>
              <a:t>Good work focusing on multi-user race around the cancellation deadline and remaining-slots capacity — that’s a fragile spot.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rgbClr val="00B0F0"/>
                </a:solidFill>
                <a:latin typeface="Calibri" panose="020F0502020204030204" pitchFamily="34" charset="0"/>
                <a:cs typeface="Calibri" panose="020F0502020204030204" pitchFamily="34" charset="0"/>
              </a:rPr>
              <a:t>Here’s a real example: in commercial airline check-in and boarding operations</a:t>
            </a:r>
            <a:r>
              <a:rPr lang="en-US" sz="800" dirty="0">
                <a:solidFill>
                  <a:schemeClr val="tx1"/>
                </a:solidFill>
                <a:latin typeface="Calibri" panose="020F0502020204030204" pitchFamily="34" charset="0"/>
                <a:cs typeface="Calibri" panose="020F0502020204030204" pitchFamily="34" charset="0"/>
              </a:rPr>
              <a:t>, passengers, gate agents, and the airline reservation system compete for a finite number of seats on a flight. Airlines enforce strict cutoffs (check-in may close ~60 minutes before departure; gate close commonly ~15 minutes prior). Seats are scarce and sometimes overbooked; a ticketed passenger “owns” a seat only until boarding is reconciled at the gate, and staff can override assignments. What travelers see in the mobile app (available seat, confirmed ticket) can differ from the gate manifest. </a:t>
            </a:r>
            <a:r>
              <a:rPr lang="en-US" sz="800" dirty="0">
                <a:solidFill>
                  <a:srgbClr val="00B0F0"/>
                </a:solidFill>
                <a:latin typeface="Calibri" panose="020F0502020204030204" pitchFamily="34" charset="0"/>
                <a:cs typeface="Calibri" panose="020F0502020204030204" pitchFamily="34" charset="0"/>
              </a:rPr>
              <a:t>Typical failure symptoms are contradictions</a:t>
            </a:r>
            <a:r>
              <a:rPr lang="en-US" sz="800" dirty="0">
                <a:solidFill>
                  <a:schemeClr val="tx1"/>
                </a:solidFill>
                <a:latin typeface="Calibri" panose="020F0502020204030204" pitchFamily="34" charset="0"/>
                <a:cs typeface="Calibri" panose="020F0502020204030204" pitchFamily="34" charset="0"/>
              </a:rPr>
              <a:t>: a seat looks available online but two passengers present it as theirs, or a passenger with a visible reservation is denied boarding. Operations teams analyze these by tracing ownership timestamps, reconciliation windows, and which system-of-record wins; they focus on observable state transitions and where visibility diverges from authoritative state.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rgbClr val="00B0F0"/>
                </a:solidFill>
                <a:latin typeface="Calibri" panose="020F0502020204030204" pitchFamily="34" charset="0"/>
                <a:cs typeface="Calibri" panose="020F0502020204030204" pitchFamily="34" charset="0"/>
              </a:rPr>
              <a:t>In your system, what is the equivalent </a:t>
            </a:r>
            <a:r>
              <a:rPr lang="en-US" sz="800" dirty="0">
                <a:solidFill>
                  <a:schemeClr val="tx1"/>
                </a:solidFill>
                <a:latin typeface="Calibri" panose="020F0502020204030204" pitchFamily="34" charset="0"/>
                <a:cs typeface="Calibri" panose="020F0502020204030204" pitchFamily="34" charset="0"/>
              </a:rPr>
              <a:t>of the airline gate-close/cancellation deadline and scarce seats (remaining slots), and </a:t>
            </a:r>
            <a:r>
              <a:rPr lang="en-US" sz="800" dirty="0">
                <a:solidFill>
                  <a:srgbClr val="00B0F0"/>
                </a:solidFill>
                <a:latin typeface="Calibri" panose="020F0502020204030204" pitchFamily="34" charset="0"/>
                <a:cs typeface="Calibri" panose="020F0502020204030204" pitchFamily="34" charset="0"/>
              </a:rPr>
              <a:t>how would you test/validate and resolve a multi-user race between regular users and admins?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View &amp; find email - Gmail Help - Google Help: https://support.google.com/mail/answer/9259955?hl=en Find your friends and family with Find Hub - Android Help: https://support.google.com/android/answer/15992026?hl=en-en Share &amp; manage devices with Find Hub - Android Help: https://support.google.com/android/answer/14800516?hl=en-en Find plane tickets on Google Flights - Computer - Travel Help: https://support.google.com/travel/answer/2475306?hl=en-EN&amp;co=GENIE.Platform=Desktop Find your purchases, reservations &amp; subscriptions - Google Help: https://support.google.com/accounts/answer/7673989?hl=en-EN&amp;co=GENIE.Platform=Desktop</a:t>
            </a:r>
            <a:endParaRPr lang="en-GB" sz="800" dirty="0">
              <a:solidFill>
                <a:schemeClr val="tx1"/>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76E67809-0AAF-E194-8E88-13ECD64B6DF8}"/>
              </a:ext>
            </a:extLst>
          </p:cNvPr>
          <p:cNvSpPr/>
          <p:nvPr/>
        </p:nvSpPr>
        <p:spPr>
          <a:xfrm>
            <a:off x="2695370" y="329002"/>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testing a multi-user race condition near the cancellation deadline. Create variations of this scenario.</a:t>
            </a:r>
          </a:p>
        </p:txBody>
      </p:sp>
      <p:pic>
        <p:nvPicPr>
          <p:cNvPr id="10" name="Graphic 9" descr="Robot with solid fill">
            <a:extLst>
              <a:ext uri="{FF2B5EF4-FFF2-40B4-BE49-F238E27FC236}">
                <a16:creationId xmlns:a16="http://schemas.microsoft.com/office/drawing/2014/main" id="{E21470FA-5CB0-FDDA-9869-30F5D3F92D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76629" y="797400"/>
            <a:ext cx="231730" cy="210626"/>
          </a:xfrm>
          <a:prstGeom prst="rect">
            <a:avLst/>
          </a:prstGeom>
        </p:spPr>
      </p:pic>
      <p:pic>
        <p:nvPicPr>
          <p:cNvPr id="11" name="Graphic 10" descr="Programmer female with solid fill">
            <a:extLst>
              <a:ext uri="{FF2B5EF4-FFF2-40B4-BE49-F238E27FC236}">
                <a16:creationId xmlns:a16="http://schemas.microsoft.com/office/drawing/2014/main" id="{0B2DD52F-E657-884C-6B00-5252574FA8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76629" y="329188"/>
            <a:ext cx="201356" cy="210598"/>
          </a:xfrm>
          <a:prstGeom prst="rect">
            <a:avLst/>
          </a:prstGeom>
        </p:spPr>
      </p:pic>
    </p:spTree>
    <p:extLst>
      <p:ext uri="{BB962C8B-B14F-4D97-AF65-F5344CB8AC3E}">
        <p14:creationId xmlns:p14="http://schemas.microsoft.com/office/powerpoint/2010/main" val="1122549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DFEFA-A280-D0FA-3362-030546E220F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CC6325A-A603-126C-324A-DEA781C7C140}"/>
              </a:ext>
            </a:extLst>
          </p:cNvPr>
          <p:cNvSpPr/>
          <p:nvPr/>
        </p:nvSpPr>
        <p:spPr>
          <a:xfrm>
            <a:off x="953110" y="741454"/>
            <a:ext cx="2645496" cy="54688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work focusing on multi-user race around the cancellation deadline and remaining-slots capacity — that’s a fragile spot.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commercial airline check-in and boarding operations, passengers, gate agents, and the airline reservation system compete for a finite number of seats on a flight. Airlines enforce strict cutoffs (check-in may close ~60 minutes before departure; gate close commonly ~15 minutes prior). Seats are scarce and sometimes overbooked; a ticketed passenger “owns” a seat only until boarding is reconciled at the gate, and staff can override assignments. </a:t>
            </a:r>
            <a:r>
              <a:rPr lang="en-US" sz="800" dirty="0">
                <a:solidFill>
                  <a:schemeClr val="accent5"/>
                </a:solidFill>
                <a:latin typeface="Calibri" panose="020F0502020204030204" pitchFamily="34" charset="0"/>
                <a:cs typeface="Calibri" panose="020F0502020204030204" pitchFamily="34" charset="0"/>
              </a:rPr>
              <a:t>What travelers see in the mobile app (available seat, confirmed ticket) can differ from the gate manifest</a:t>
            </a:r>
            <a:r>
              <a:rPr lang="en-US" sz="800" dirty="0">
                <a:solidFill>
                  <a:schemeClr val="tx1"/>
                </a:solidFill>
                <a:latin typeface="Calibri" panose="020F0502020204030204" pitchFamily="34" charset="0"/>
                <a:cs typeface="Calibri" panose="020F0502020204030204" pitchFamily="34" charset="0"/>
              </a:rPr>
              <a:t>. Typical failure symptoms are contradictions: a seat looks available online but two passengers present it as theirs, or a passenger with a visible reservation is denied boarding. </a:t>
            </a:r>
            <a:r>
              <a:rPr lang="en-US" sz="800" dirty="0">
                <a:solidFill>
                  <a:schemeClr val="accent5"/>
                </a:solidFill>
                <a:latin typeface="Calibri" panose="020F0502020204030204" pitchFamily="34" charset="0"/>
                <a:cs typeface="Calibri" panose="020F0502020204030204" pitchFamily="34" charset="0"/>
              </a:rPr>
              <a:t>Operations teams analyze these by tracing ownership timestamps, reconciliation windows, and which system-of-record wins</a:t>
            </a:r>
            <a:r>
              <a:rPr lang="en-US" sz="800" dirty="0">
                <a:solidFill>
                  <a:schemeClr val="tx1"/>
                </a:solidFill>
                <a:latin typeface="Calibri" panose="020F0502020204030204" pitchFamily="34" charset="0"/>
                <a:cs typeface="Calibri" panose="020F0502020204030204" pitchFamily="34" charset="0"/>
              </a:rPr>
              <a:t>; they focus on observable state transitions and where visibility diverges from authoritative state.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solidFill>
                <a:latin typeface="Calibri" panose="020F0502020204030204" pitchFamily="34" charset="0"/>
                <a:cs typeface="Calibri" panose="020F0502020204030204" pitchFamily="34" charset="0"/>
              </a:rPr>
              <a:t>what is the equivalent of the airline gate-close/cancellation deadline and scarce seats (remaining slots), </a:t>
            </a:r>
            <a:r>
              <a:rPr lang="en-US" sz="800" dirty="0">
                <a:solidFill>
                  <a:schemeClr val="tx1"/>
                </a:solidFill>
                <a:latin typeface="Calibri" panose="020F0502020204030204" pitchFamily="34" charset="0"/>
                <a:cs typeface="Calibri" panose="020F0502020204030204" pitchFamily="34" charset="0"/>
              </a:rPr>
              <a:t>and how would you test/validate and resolve a multi-user race between regular users and admins?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View &amp; find email - Gmail Help - Google Help: https://support.google.com/mail/answer/9259955?hl=en Find your friends and family with Find Hub - Android Help: https://support.google.com/android/answer/15992026?hl=en-en Share &amp; manage devices with Find Hub - Android Help: https://support.google.com/android/answer/14800516?hl=en-en Find plane tickets on Google Flights - Computer - Travel Help: https://support.google.com/travel/answer/2475306?hl=en-EN&amp;co=GENIE.Platform=Desktop Find your purchases, reservations &amp; subscriptions - Google Help: https://support.google.com/accounts/answer/7673989?hl=en-EN&amp;co=GENIE.Platform=Desktop</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77E9214-D94C-F961-8DD1-DCABEB31C714}"/>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testing a multi-user race condition near the cancellation deadline. Create variations of this scenario.</a:t>
            </a:r>
          </a:p>
        </p:txBody>
      </p:sp>
      <p:sp>
        <p:nvSpPr>
          <p:cNvPr id="18" name="TextBox 17">
            <a:extLst>
              <a:ext uri="{FF2B5EF4-FFF2-40B4-BE49-F238E27FC236}">
                <a16:creationId xmlns:a16="http://schemas.microsoft.com/office/drawing/2014/main" id="{3BF69F0F-FD45-9CAF-880F-9F4499855FC0}"/>
              </a:ext>
            </a:extLst>
          </p:cNvPr>
          <p:cNvSpPr txBox="1"/>
          <p:nvPr/>
        </p:nvSpPr>
        <p:spPr>
          <a:xfrm>
            <a:off x="5070355" y="846762"/>
            <a:ext cx="4572000" cy="3416320"/>
          </a:xfrm>
          <a:prstGeom prst="rect">
            <a:avLst/>
          </a:prstGeom>
          <a:noFill/>
        </p:spPr>
        <p:txBody>
          <a:bodyPr wrap="square">
            <a:spAutoFit/>
          </a:bodyPr>
          <a:lstStyle/>
          <a:p>
            <a:r>
              <a:rPr lang="en-US" sz="7200" dirty="0"/>
              <a:t>AM-brainstormer-1</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033FB6A6-4F7B-9427-645E-AC0B27AE99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10888061-07DC-AC5A-AF5F-AD5EEB70E6E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11F28C91-06C6-B044-A306-A663626E881B}"/>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1854A26-F8CE-0B50-B78D-F83743B8414F}"/>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38D4EFF-42E7-57C8-4FC4-8C37774B8076}"/>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BFC9C71-9ADE-5B82-3B93-863D3F40C148}"/>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28264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FE12-CF99-9B74-4F01-9413967864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4F91A7-03DF-031A-D823-355438648600}"/>
              </a:ext>
            </a:extLst>
          </p:cNvPr>
          <p:cNvSpPr/>
          <p:nvPr/>
        </p:nvSpPr>
        <p:spPr>
          <a:xfrm>
            <a:off x="953110" y="741454"/>
            <a:ext cx="2645496" cy="50973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work focusing on multi-user race conditions near the cancellation deadline; those edge races often reveal hidden state conflicts.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 university course enrollment system used during a semester registration window, thousands of students and the registrar act in tight time boundaries to add/drop courses with limited seats. Anchors from your scenario: cancellation deadline (add/drop cutoff), multi-user race, remaining slots (course seats), admin override (registrar). Students see a course listing showing open seats; the registrar and enrollment service own authoritative seat assignments. </a:t>
            </a:r>
            <a:r>
              <a:rPr lang="en-US" sz="800" dirty="0">
                <a:solidFill>
                  <a:schemeClr val="accent5">
                    <a:lumMod val="40000"/>
                    <a:lumOff val="60000"/>
                  </a:schemeClr>
                </a:solidFill>
                <a:latin typeface="Calibri" panose="020F0502020204030204" pitchFamily="34" charset="0"/>
                <a:cs typeface="Calibri" panose="020F0502020204030204" pitchFamily="34" charset="0"/>
              </a:rPr>
              <a:t>Typical failure: the catalog shows a seat available but enrollment is rejected (or a class briefly shows negative remaining seats). Analysts there focus on invariants (</a:t>
            </a:r>
            <a:r>
              <a:rPr lang="en-US" sz="800" dirty="0" err="1">
                <a:solidFill>
                  <a:schemeClr val="accent5">
                    <a:lumMod val="40000"/>
                    <a:lumOff val="60000"/>
                  </a:schemeClr>
                </a:solidFill>
                <a:latin typeface="Calibri" panose="020F0502020204030204" pitchFamily="34" charset="0"/>
                <a:cs typeface="Calibri" panose="020F0502020204030204" pitchFamily="34" charset="0"/>
              </a:rPr>
              <a:t>seat_count</a:t>
            </a:r>
            <a:r>
              <a:rPr lang="en-US" sz="800" dirty="0">
                <a:solidFill>
                  <a:schemeClr val="accent5">
                    <a:lumMod val="40000"/>
                    <a:lumOff val="60000"/>
                  </a:schemeClr>
                </a:solidFill>
                <a:latin typeface="Calibri" panose="020F0502020204030204" pitchFamily="34" charset="0"/>
                <a:cs typeface="Calibri" panose="020F0502020204030204" pitchFamily="34" charset="0"/>
              </a:rPr>
              <a:t> ≥ 0, one ownership record per enrollment), reconciliation windows around the deadline, and diffs between what users observe and the authoritative ledger to locate transient races.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accent6"/>
                </a:solidFill>
                <a:latin typeface="Calibri" panose="020F0502020204030204" pitchFamily="34" charset="0"/>
                <a:cs typeface="Calibri" panose="020F0502020204030204" pitchFamily="34" charset="0"/>
              </a:rPr>
              <a:t>In your system, which component corresponds to the course’s remaining slots and the add/drop cancellation deadline—what is the authoritative state/ownership during a multi-user race condition</a:t>
            </a:r>
            <a:r>
              <a:rPr lang="en-US" sz="800" dirty="0">
                <a:solidFill>
                  <a:schemeClr val="tx1"/>
                </a:solidFill>
                <a:latin typeface="Calibri" panose="020F0502020204030204" pitchFamily="34" charset="0"/>
                <a:cs typeface="Calibri" panose="020F0502020204030204" pitchFamily="34" charset="0"/>
              </a:rPr>
              <a:t>, and </a:t>
            </a:r>
            <a:r>
              <a:rPr lang="en-US" sz="800" dirty="0">
                <a:solidFill>
                  <a:schemeClr val="accent4"/>
                </a:solidFill>
                <a:latin typeface="Calibri" panose="020F0502020204030204" pitchFamily="34" charset="0"/>
                <a:cs typeface="Calibri" panose="020F0502020204030204" pitchFamily="34" charset="0"/>
              </a:rPr>
              <a:t>how would you test and validate or resolve discrepancies between what users observe and that state?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Colloquium | Department of Physics: https://physics.biu.ac.il/en/Colloquium Course Listings: https://www.etown.edu/offices/registration-records/courselistings.aspx CUCET 2026 Question Paper Pattern, syllabus , sample papers: https://collegekampus.com/cucet-question-paper-pattern-syllabus-sample-papers/ Brunswick School - Greenwich Academy: https://wicknet.org/downloads/BWK-GA-Course-Catalog-2025-26.pdf Cryptic Chronicles of a Southern GP: https://www.nzdoctor.co.nz/chronicles-southern-</a:t>
            </a:r>
            <a:r>
              <a:rPr lang="en-US" sz="800" dirty="0" err="1">
                <a:solidFill>
                  <a:schemeClr val="tx1"/>
                </a:solidFill>
                <a:latin typeface="Calibri" panose="020F0502020204030204" pitchFamily="34" charset="0"/>
                <a:cs typeface="Calibri" panose="020F0502020204030204" pitchFamily="34" charset="0"/>
              </a:rPr>
              <a:t>dave</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450FC52-247B-EF4C-F4AC-F74910BB7939}"/>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testing a multi-user race condition near the cancellation deadline. Create variations of this scenario.</a:t>
            </a:r>
          </a:p>
        </p:txBody>
      </p:sp>
      <p:sp>
        <p:nvSpPr>
          <p:cNvPr id="18" name="TextBox 17">
            <a:extLst>
              <a:ext uri="{FF2B5EF4-FFF2-40B4-BE49-F238E27FC236}">
                <a16:creationId xmlns:a16="http://schemas.microsoft.com/office/drawing/2014/main" id="{8FD939B5-57B7-5FCA-2362-A66B2C472176}"/>
              </a:ext>
            </a:extLst>
          </p:cNvPr>
          <p:cNvSpPr txBox="1"/>
          <p:nvPr/>
        </p:nvSpPr>
        <p:spPr>
          <a:xfrm>
            <a:off x="5070355" y="846762"/>
            <a:ext cx="4572000" cy="3416320"/>
          </a:xfrm>
          <a:prstGeom prst="rect">
            <a:avLst/>
          </a:prstGeom>
          <a:noFill/>
        </p:spPr>
        <p:txBody>
          <a:bodyPr wrap="square">
            <a:spAutoFit/>
          </a:bodyPr>
          <a:lstStyle/>
          <a:p>
            <a:r>
              <a:rPr lang="en-US" sz="7200" dirty="0"/>
              <a:t>AM-brainstormer-2</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A9105DCF-7BC2-73D8-1C23-A0141A95C2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5649FB29-EC5C-304A-D1FF-1462791655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12" name="TextBox 11">
            <a:extLst>
              <a:ext uri="{FF2B5EF4-FFF2-40B4-BE49-F238E27FC236}">
                <a16:creationId xmlns:a16="http://schemas.microsoft.com/office/drawing/2014/main" id="{98315F9C-DF14-6DF0-52E2-06A1E2A8FDC7}"/>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4755EA4D-2C1E-B800-5172-89495162CA89}"/>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0BF7FA8D-D12C-E3EA-5483-58D33341A002}"/>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0907864A-DA01-3B8D-BEF5-C1C4C38F1497}"/>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51332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F8FB8-C817-4521-CD2A-DE94450DC63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BCF2AA5-2171-29A2-3EDC-E0CC3F72FF6C}"/>
              </a:ext>
            </a:extLst>
          </p:cNvPr>
          <p:cNvSpPr/>
          <p:nvPr/>
        </p:nvSpPr>
        <p:spPr>
          <a:xfrm>
            <a:off x="953110" y="741454"/>
            <a:ext cx="2645496" cy="47925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Nice focus—testing multi-user race conditions near the cancellation deadline protects reservation integrity.</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hospital operating room (OR) scheduling at a regional medical center, surgical teams reserve scarce OR time for specific patients. The schedule is published weeks ahead; cancellations are permitted up until a strict cutoff (commonly about 2 hours before incision). Ownership of a slot belongs to a surgeon/team once confirmed, yet scheduling staff, OR nurses, and anesthesiology each see their own snapshots of the schedule. </a:t>
            </a:r>
            <a:r>
              <a:rPr lang="en-US" sz="800" dirty="0">
                <a:solidFill>
                  <a:schemeClr val="accent5">
                    <a:lumMod val="40000"/>
                    <a:lumOff val="60000"/>
                  </a:schemeClr>
                </a:solidFill>
                <a:latin typeface="Calibri" panose="020F0502020204030204" pitchFamily="34" charset="0"/>
                <a:cs typeface="Calibri" panose="020F0502020204030204" pitchFamily="34" charset="0"/>
              </a:rPr>
              <a:t>Typical failures sound like: the roster shows a slot available while the patient is prepped, or two teams both believe they hold the same OR. People there analyze such issues by checking who currently “owns” the slot, the cancellation cutoff invariant, visibility gaps between roles, and reconciliation/audit trails to explain contradictions.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accent6"/>
                </a:solidFill>
                <a:latin typeface="Calibri" panose="020F0502020204030204" pitchFamily="34" charset="0"/>
                <a:cs typeface="Calibri" panose="020F0502020204030204" pitchFamily="34" charset="0"/>
              </a:rPr>
              <a:t>In your system, what is the equivalent ownership of a reservation and the cancellation-deadline boundary,</a:t>
            </a:r>
            <a:r>
              <a:rPr lang="en-US" sz="800" dirty="0">
                <a:solidFill>
                  <a:schemeClr val="tx1"/>
                </a:solidFill>
                <a:latin typeface="Calibri" panose="020F0502020204030204" pitchFamily="34" charset="0"/>
                <a:cs typeface="Calibri" panose="020F0502020204030204" pitchFamily="34" charset="0"/>
              </a:rPr>
              <a:t> and how would you test and validate multi-user race conditions that produce conflicting reservation/cancellation state?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University General Catalog Academic Year 2025-2026: https://www.cnsu.edu/about/PDFs/CALIFORNIA-NORTHSTATE-UNIVERSITY-CATALOG-AY-2025-2026-FINAL.pdf FSU International Programs England Broad Curriculum: https://international.fsu.edu/Program/England/BroadCurriculum.aspx Catalog 2025-2026: https://www.thomas.edu/wp-content/uploads/2025/09/2025-2026-Catalog-Updated-Sept-2025.pdf IIGD Publishers: https://iigdpublishers.com/ 2025–2026 Academic Catalog - Pepperdine | Seaver College: https://seaver.pepperdine.edu/academics/content/2025-seaver-catalog.pdf</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82D830DB-BF95-DDC1-C249-5CDD9FB77088}"/>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testing a multi-user race condition near the cancellation deadline. Create variations of this scenario.</a:t>
            </a:r>
          </a:p>
        </p:txBody>
      </p:sp>
      <p:sp>
        <p:nvSpPr>
          <p:cNvPr id="18" name="TextBox 17">
            <a:extLst>
              <a:ext uri="{FF2B5EF4-FFF2-40B4-BE49-F238E27FC236}">
                <a16:creationId xmlns:a16="http://schemas.microsoft.com/office/drawing/2014/main" id="{51003D96-37D2-26E0-E8D3-38F22FD3A135}"/>
              </a:ext>
            </a:extLst>
          </p:cNvPr>
          <p:cNvSpPr txBox="1"/>
          <p:nvPr/>
        </p:nvSpPr>
        <p:spPr>
          <a:xfrm>
            <a:off x="5070355" y="846762"/>
            <a:ext cx="4572000" cy="3416320"/>
          </a:xfrm>
          <a:prstGeom prst="rect">
            <a:avLst/>
          </a:prstGeom>
          <a:noFill/>
        </p:spPr>
        <p:txBody>
          <a:bodyPr wrap="square">
            <a:spAutoFit/>
          </a:bodyPr>
          <a:lstStyle/>
          <a:p>
            <a:r>
              <a:rPr lang="en-US" sz="7200" dirty="0"/>
              <a:t>AM-brainstormer-3</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5D2B7C64-5B2E-EE67-4F1F-146C315C9A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EEC53B29-3F8F-A3E7-2897-E63660C16B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915" y="273237"/>
            <a:ext cx="201356" cy="210598"/>
          </a:xfrm>
          <a:prstGeom prst="rect">
            <a:avLst/>
          </a:prstGeom>
        </p:spPr>
      </p:pic>
      <p:sp>
        <p:nvSpPr>
          <p:cNvPr id="7" name="TextBox 6">
            <a:extLst>
              <a:ext uri="{FF2B5EF4-FFF2-40B4-BE49-F238E27FC236}">
                <a16:creationId xmlns:a16="http://schemas.microsoft.com/office/drawing/2014/main" id="{8784318C-0D80-2736-38C3-95BE45DB9EF2}"/>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BD1FC7B4-3A9A-12B2-E3DE-5F2A9E59B756}"/>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0A28B8-A61A-644E-CCB8-636896AAE548}"/>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2FADD88-E83E-418B-9FD0-33DE02A1C57C}"/>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0601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3D3A8-9B9D-012E-D7D9-F7C60A3B419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0BA00EC-15A7-1DD2-FEA1-AB4EC2C3D1A0}"/>
              </a:ext>
            </a:extLst>
          </p:cNvPr>
          <p:cNvSpPr/>
          <p:nvPr/>
        </p:nvSpPr>
        <p:spPr>
          <a:xfrm>
            <a:off x="953110" y="741454"/>
            <a:ext cx="2645496" cy="52973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Nice—switching between admin edits and normal user view is a great way to reveal propagation and permission gaps.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an airline reservation system used by call-center agents and passengers on the web/mobile app, agents can place provisional holds or edit passenger bookings while customers try to book seats. Context details: holds often expire after a short window (e.g., 10–15 minutes) before departure; the scarce resource is a physical seat on a specific flight; ownership is the booking/PNR held by an agent or passenger at different times; passengers may see a seat as “available” online while an agent’s provisional hold exists. </a:t>
            </a:r>
            <a:r>
              <a:rPr lang="en-US" sz="800" dirty="0">
                <a:solidFill>
                  <a:schemeClr val="accent5">
                    <a:lumMod val="60000"/>
                    <a:lumOff val="40000"/>
                  </a:schemeClr>
                </a:solidFill>
                <a:latin typeface="Calibri" panose="020F0502020204030204" pitchFamily="34" charset="0"/>
                <a:cs typeface="Calibri" panose="020F0502020204030204" pitchFamily="34" charset="0"/>
              </a:rPr>
              <a:t>Typical failure symptom is a contradiction—looks available in the storefront, but booking fails or later disappears—so analysts focus on ownership boundaries, visibility windows, and reconciliation signals (who claims the slot when, and what the UI actually reflects).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4"/>
                </a:solidFill>
                <a:latin typeface="Calibri" panose="020F0502020204030204" pitchFamily="34" charset="0"/>
                <a:cs typeface="Calibri" panose="020F0502020204030204" pitchFamily="34" charset="0"/>
              </a:rPr>
              <a:t>which parts map to the airline’s agent-held seat versus passenger view (admin edits, normal user view, propagation of reservations or class catalog), </a:t>
            </a:r>
            <a:r>
              <a:rPr lang="en-US" sz="800" dirty="0">
                <a:solidFill>
                  <a:schemeClr val="accent6"/>
                </a:solidFill>
                <a:latin typeface="Calibri" panose="020F0502020204030204" pitchFamily="34" charset="0"/>
                <a:cs typeface="Calibri" panose="020F0502020204030204" pitchFamily="34" charset="0"/>
              </a:rPr>
              <a:t>and how would you resolve mismatches between admin edits and user-visible state?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JBLU Interactive Stock Chart | JetBlue Airways Corporation Stock...: https://finance.yahoo.com/chart/JBLU?fr=sycsrp_catchall JetBlue Airways Corporation (JBLU) Stock Historical Prices &amp; Data...: https://finance.yahoo.com/quote/JBLU/history/?fr=sycsrp_catchall JetBlue Airways Corporation (JBLU) Stock Price, News, Quote &amp;...: https://finance.yahoo.com/quote/JBLU/?fr=sycsrp_catchall JetBlue Airways Corporation (JBLU) - Yahoo Finance: https://finance.yahoo.com/quote/JBLU/financials/?fr=sycsrp_catchall JetBlue Airways Corporation (JBLU) Stock Price, News, Quote &amp;...: https://finance.yahoo.com/quote/JBLU/latest-news/?fr=sycsrp_catchall</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2B51F12-F453-3778-76B8-87A5321A6122}"/>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switching between admin edits and a normal user view to see what changes propagate. Create variations of this scenario.</a:t>
            </a:r>
          </a:p>
        </p:txBody>
      </p:sp>
      <p:sp>
        <p:nvSpPr>
          <p:cNvPr id="18" name="TextBox 17">
            <a:extLst>
              <a:ext uri="{FF2B5EF4-FFF2-40B4-BE49-F238E27FC236}">
                <a16:creationId xmlns:a16="http://schemas.microsoft.com/office/drawing/2014/main" id="{650CF4E8-54EE-2100-7B4A-DF701695886C}"/>
              </a:ext>
            </a:extLst>
          </p:cNvPr>
          <p:cNvSpPr txBox="1"/>
          <p:nvPr/>
        </p:nvSpPr>
        <p:spPr>
          <a:xfrm>
            <a:off x="5070355" y="846762"/>
            <a:ext cx="4572000" cy="3416320"/>
          </a:xfrm>
          <a:prstGeom prst="rect">
            <a:avLst/>
          </a:prstGeom>
          <a:noFill/>
        </p:spPr>
        <p:txBody>
          <a:bodyPr wrap="square">
            <a:spAutoFit/>
          </a:bodyPr>
          <a:lstStyle/>
          <a:p>
            <a:r>
              <a:rPr lang="en-US" sz="7200" dirty="0"/>
              <a:t>AM-brainstormer-4</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F56B7408-D4E4-D084-3D1C-71785C80AED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23C3B5C5-88E6-DED7-4C44-2742942B51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8F9DD7F6-CB66-F88F-96F1-2AD442ADCDA4}"/>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8079E53-0E1A-FFAC-8332-9E5350F13307}"/>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DF70AD3-A45B-22DA-0B98-476B966C8398}"/>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67719A74-2EB4-1EB0-20AB-3B5F6E06D56A}"/>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6131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A0668-1911-F838-4964-F325AB7657A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B4FB424-6759-9F2F-6B02-2E1BA6ECA7F0}"/>
              </a:ext>
            </a:extLst>
          </p:cNvPr>
          <p:cNvSpPr/>
          <p:nvPr/>
        </p:nvSpPr>
        <p:spPr>
          <a:xfrm>
            <a:off x="953110" y="741454"/>
            <a:ext cx="2645496" cy="50783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thinking—examining admin edits versus regular-user view highlights propagation and state/permission inconsistencies.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 university course enrollment system used by students and a registrar office, conflicts popped up during a short registration window and the add/drop cutoff. Seats are scarce (course capacity), ownership is explicit (a seat is assigned to a student record), and registrars can manually override enrollments or move people from waitlists. </a:t>
            </a:r>
            <a:r>
              <a:rPr lang="en-US" sz="800" dirty="0">
                <a:solidFill>
                  <a:schemeClr val="accent5">
                    <a:lumMod val="40000"/>
                    <a:lumOff val="60000"/>
                  </a:schemeClr>
                </a:solidFill>
                <a:latin typeface="Calibri" panose="020F0502020204030204" pitchFamily="34" charset="0"/>
                <a:cs typeface="Calibri" panose="020F0502020204030204" pitchFamily="34" charset="0"/>
              </a:rPr>
              <a:t>Students saw "enrolled" or "available" on their dashboards while registrar logs showed them on a waitlist or pending hold — a classic looks-enrolled-but-is-waitlisted contradiction. People there analyze the problem by checking invariants (seat counts vs assigned students), auditing who changed what and when, and tracing visibility boundaries between admin and student views to decide reconciliation or messaging approaches.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solidFill>
                <a:latin typeface="Calibri" panose="020F0502020204030204" pitchFamily="34" charset="0"/>
                <a:cs typeface="Calibri" panose="020F0502020204030204" pitchFamily="34" charset="0"/>
              </a:rPr>
              <a:t>what is the equivalent admin-edit vs regular-user-view state or propagation mismatch</a:t>
            </a:r>
            <a:r>
              <a:rPr lang="en-US" sz="800" dirty="0">
                <a:solidFill>
                  <a:schemeClr val="tx1"/>
                </a:solidFill>
                <a:latin typeface="Calibri" panose="020F0502020204030204" pitchFamily="34" charset="0"/>
                <a:cs typeface="Calibri" panose="020F0502020204030204" pitchFamily="34" charset="0"/>
              </a:rPr>
              <a:t>, and how would you validate or resolve it?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[PDF] Service Engineer IT Hardware - ESSCI: https://essc-india.org/participant-handook/English/Service%20Engineer%20IT%20Hardware.pdf [PDF] ICAR Guidelines for Intellectual Property Management and ...: https://icar.org.in/sites/default/files/inline-files/ICAR_Guidelines_for_IPM_and_Technology_Transfer_2018.pdf </a:t>
            </a:r>
            <a:r>
              <a:rPr lang="en-US" sz="800" dirty="0" err="1">
                <a:solidFill>
                  <a:schemeClr val="tx1"/>
                </a:solidFill>
                <a:latin typeface="Calibri" panose="020F0502020204030204" pitchFamily="34" charset="0"/>
                <a:cs typeface="Calibri" panose="020F0502020204030204" pitchFamily="34" charset="0"/>
              </a:rPr>
              <a:t>APacCHRIE</a:t>
            </a:r>
            <a:r>
              <a:rPr lang="en-US" sz="800" dirty="0">
                <a:solidFill>
                  <a:schemeClr val="tx1"/>
                </a:solidFill>
                <a:latin typeface="Calibri" panose="020F0502020204030204" pitchFamily="34" charset="0"/>
                <a:cs typeface="Calibri" panose="020F0502020204030204" pitchFamily="34" charset="0"/>
              </a:rPr>
              <a:t> 2023 FINAL CP: https://www.apacchrie.org/wp-content/uploads/2023/08/APacCHRIE-2023-FINAL-CP.pdf [PDF] Annual Report - 2022-2023 - IIT Mandi: https://www.iitmandi.ac.in/administration/annual_reports/annual_report2023english.pdf [PDF] ICAR Guidelines for Intellectual Property Management and ...: https://www.cazri.res.in/itmu/pdf/icar-ipmttcguide.pdf</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2CD90C77-44F1-3D24-A999-E1F79C60EA64}"/>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switching between admin edits and a normal user view to see what changes propagate. Create variations of this scenario.</a:t>
            </a:r>
          </a:p>
        </p:txBody>
      </p:sp>
      <p:sp>
        <p:nvSpPr>
          <p:cNvPr id="18" name="TextBox 17">
            <a:extLst>
              <a:ext uri="{FF2B5EF4-FFF2-40B4-BE49-F238E27FC236}">
                <a16:creationId xmlns:a16="http://schemas.microsoft.com/office/drawing/2014/main" id="{88228E3C-E438-67D8-1F22-A58B95BE120E}"/>
              </a:ext>
            </a:extLst>
          </p:cNvPr>
          <p:cNvSpPr txBox="1"/>
          <p:nvPr/>
        </p:nvSpPr>
        <p:spPr>
          <a:xfrm>
            <a:off x="5070355" y="846762"/>
            <a:ext cx="4572000" cy="3416320"/>
          </a:xfrm>
          <a:prstGeom prst="rect">
            <a:avLst/>
          </a:prstGeom>
          <a:noFill/>
        </p:spPr>
        <p:txBody>
          <a:bodyPr wrap="square">
            <a:spAutoFit/>
          </a:bodyPr>
          <a:lstStyle/>
          <a:p>
            <a:r>
              <a:rPr lang="en-US" sz="7200" dirty="0"/>
              <a:t>AM-brainstormer-5</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3737148D-7A27-17B0-A79E-10670157BC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C4088DBF-D936-45FA-3D1C-D859F6E92A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18D884EA-A23F-AF13-20E3-DFDC7D288C78}"/>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E67D46D-10A0-0F57-BDCB-18AFEFB06351}"/>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C6E4E38-31CF-AF3A-6378-F78889111BA2}"/>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FC9AB229-39F7-A594-2123-42907CD17255}"/>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1157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2AA4-2BC1-D0F0-95E2-562E062C362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FC09647-84EB-AFE8-871D-89452D144C1D}"/>
              </a:ext>
            </a:extLst>
          </p:cNvPr>
          <p:cNvSpPr/>
          <p:nvPr/>
        </p:nvSpPr>
        <p:spPr>
          <a:xfrm>
            <a:off x="953110" y="741455"/>
            <a:ext cx="2645496" cy="4306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thinking—switching between admin edits and user view is essential to spot propagation and visibility gaps.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 major airline’s reservation system, operations teams, sales agents, and gate agents all try to manage a scarce resource—passenger seats—under a hard cutoff (the boarding/seat-assignment window). A seat can be “held” by a booking, then later “owned” at check‑in by a gate agent; customers and OTA storefronts often see availability that no longer truly exists. </a:t>
            </a:r>
            <a:r>
              <a:rPr lang="en-US" sz="800" dirty="0">
                <a:solidFill>
                  <a:schemeClr val="accent5">
                    <a:lumMod val="40000"/>
                    <a:lumOff val="60000"/>
                  </a:schemeClr>
                </a:solidFill>
                <a:latin typeface="Calibri" panose="020F0502020204030204" pitchFamily="34" charset="0"/>
                <a:cs typeface="Calibri" panose="020F0502020204030204" pitchFamily="34" charset="0"/>
              </a:rPr>
              <a:t>Typical failure looks like: an online profile shows a seat available, but at the gate the passenger is bumped. Analysts there focus on ownership transfer boundaries, reconciliation windows, who can override visibility, and auditing every state change to explain contradictions and recover seats when views disagree.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lumMod val="75000"/>
                  </a:schemeClr>
                </a:solidFill>
                <a:latin typeface="Calibri" panose="020F0502020204030204" pitchFamily="34" charset="0"/>
                <a:cs typeface="Calibri" panose="020F0502020204030204" pitchFamily="34" charset="0"/>
              </a:rPr>
              <a:t>what is the equivalent ownership and visibility between admin edits and normal user view</a:t>
            </a:r>
            <a:r>
              <a:rPr lang="en-US" sz="800" dirty="0">
                <a:solidFill>
                  <a:schemeClr val="tx1"/>
                </a:solidFill>
                <a:latin typeface="Calibri" panose="020F0502020204030204" pitchFamily="34" charset="0"/>
                <a:cs typeface="Calibri" panose="020F0502020204030204" pitchFamily="34" charset="0"/>
              </a:rPr>
              <a:t>, and </a:t>
            </a:r>
            <a:r>
              <a:rPr lang="en-US" sz="800" dirty="0">
                <a:solidFill>
                  <a:schemeClr val="accent4">
                    <a:lumMod val="60000"/>
                    <a:lumOff val="40000"/>
                  </a:schemeClr>
                </a:solidFill>
                <a:latin typeface="Calibri" panose="020F0502020204030204" pitchFamily="34" charset="0"/>
                <a:cs typeface="Calibri" panose="020F0502020204030204" pitchFamily="34" charset="0"/>
              </a:rPr>
              <a:t>how would you validate or resolve divergences where changes fail to propagate?</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Annual Report - 2022-2023: https://www.iitmandi.ac.in/administration/annual_reports/annual_report2023english.pdf CUCET 2026 Question Paper Pattern, syllabus , sample papers: https://collegekampus.com/cucet-question-paper-pattern-syllabus-sample-papers/ HUMAN FACTORS TRAINING MANUAL: https://skylibrarys.files.wordpress.com/2016/07/doc-9683-human-factor-training-manual.pdf </a:t>
            </a:r>
            <a:r>
              <a:rPr lang="en-US" sz="800" dirty="0" err="1">
                <a:solidFill>
                  <a:schemeClr val="tx1"/>
                </a:solidFill>
                <a:latin typeface="Calibri" panose="020F0502020204030204" pitchFamily="34" charset="0"/>
                <a:cs typeface="Calibri" panose="020F0502020204030204" pitchFamily="34" charset="0"/>
              </a:rPr>
              <a:t>APacCHRIE</a:t>
            </a:r>
            <a:r>
              <a:rPr lang="en-US" sz="800" dirty="0">
                <a:solidFill>
                  <a:schemeClr val="tx1"/>
                </a:solidFill>
                <a:latin typeface="Calibri" panose="020F0502020204030204" pitchFamily="34" charset="0"/>
                <a:cs typeface="Calibri" panose="020F0502020204030204" pitchFamily="34" charset="0"/>
              </a:rPr>
              <a:t> 2023 FINAL CP: https://www.apacchrie.org/wp-content/uploads/2023/08/APacCHRIE-2023-FINAL-CP.pdf</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B997DBD-EDA2-CC57-8F5B-55F24252A7C8}"/>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I’m switching between admin edits and a normal user view to see what changes propagate. Create variations of this scenario.</a:t>
            </a:r>
          </a:p>
        </p:txBody>
      </p:sp>
      <p:sp>
        <p:nvSpPr>
          <p:cNvPr id="18" name="TextBox 17">
            <a:extLst>
              <a:ext uri="{FF2B5EF4-FFF2-40B4-BE49-F238E27FC236}">
                <a16:creationId xmlns:a16="http://schemas.microsoft.com/office/drawing/2014/main" id="{729FC167-FFD8-34F3-6EFB-12E10130C728}"/>
              </a:ext>
            </a:extLst>
          </p:cNvPr>
          <p:cNvSpPr txBox="1"/>
          <p:nvPr/>
        </p:nvSpPr>
        <p:spPr>
          <a:xfrm>
            <a:off x="5070355" y="846762"/>
            <a:ext cx="4572000" cy="3416320"/>
          </a:xfrm>
          <a:prstGeom prst="rect">
            <a:avLst/>
          </a:prstGeom>
          <a:noFill/>
        </p:spPr>
        <p:txBody>
          <a:bodyPr wrap="square">
            <a:spAutoFit/>
          </a:bodyPr>
          <a:lstStyle/>
          <a:p>
            <a:r>
              <a:rPr lang="en-US" sz="7200" dirty="0"/>
              <a:t>AM-brainstormer-6</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ED9F4CE8-41AD-09A0-B551-CE67552DC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20DE334E-DFD3-96F2-1235-D0D7B64824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CB360090-9CE4-9E17-B9C9-74865CB0FD74}"/>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8995E89-7093-9738-E49D-B7F2239F6981}"/>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672F53B-8752-1EC6-F38E-16883CE81DF4}"/>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970599-9F9B-1B46-63A2-11F3D58BF110}"/>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8792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93BAB-1C9B-8B41-2DC8-AA2C53DB9E0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568077-744C-68FA-17B5-4E45EC34FAC0}"/>
              </a:ext>
            </a:extLst>
          </p:cNvPr>
          <p:cNvSpPr/>
          <p:nvPr/>
        </p:nvSpPr>
        <p:spPr>
          <a:xfrm>
            <a:off x="953110" y="741455"/>
            <a:ext cx="2645496" cy="407819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thinking — testing multi-user booking/cancellation race conditions protects capacity and user trust.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 university course registration system, students across departments race to enroll when registration opens at a fixed time window (e.g., 9:00 AM on X date) for courses with limited seats. The scarce resource is course seats; ownership is the enrolled student’s record; identity is the student ID; add/drop deadlines and waitlists create strict time boundaries. </a:t>
            </a:r>
            <a:r>
              <a:rPr lang="en-US" sz="800" dirty="0">
                <a:solidFill>
                  <a:schemeClr val="accent5">
                    <a:lumMod val="60000"/>
                    <a:lumOff val="40000"/>
                  </a:schemeClr>
                </a:solidFill>
                <a:latin typeface="Calibri" panose="020F0502020204030204" pitchFamily="34" charset="0"/>
                <a:cs typeface="Calibri" panose="020F0502020204030204" pitchFamily="34" charset="0"/>
              </a:rPr>
              <a:t>Symptoms reported were: the catalog showed “available” but enrollment failed, duplicate enrollments, or an overbooked roster after the window closed. Campus IT and the Registrar analyze these by tracing event ordering, validating seat-count invariants, reconciling logs against final rosters, and defining observable reconciliation behaviors (who can see availability vs. who actually holds a seat).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accent5">
                    <a:lumMod val="75000"/>
                  </a:schemeClr>
                </a:solidFill>
                <a:latin typeface="Calibri" panose="020F0502020204030204" pitchFamily="34" charset="0"/>
                <a:cs typeface="Calibri" panose="020F0502020204030204" pitchFamily="34" charset="0"/>
              </a:rPr>
              <a:t>In your system, which actors, booking/cancellation states, and remaining-slots behaviors correspond to the student ID / registration-window / seat-ownership concepts</a:t>
            </a:r>
            <a:r>
              <a:rPr lang="en-US" sz="800" dirty="0">
                <a:solidFill>
                  <a:schemeClr val="tx1"/>
                </a:solidFill>
                <a:latin typeface="Calibri" panose="020F0502020204030204" pitchFamily="34" charset="0"/>
                <a:cs typeface="Calibri" panose="020F0502020204030204" pitchFamily="34" charset="0"/>
              </a:rPr>
              <a:t>, and </a:t>
            </a:r>
            <a:r>
              <a:rPr lang="en-US" sz="800" dirty="0">
                <a:solidFill>
                  <a:schemeClr val="accent6"/>
                </a:solidFill>
                <a:latin typeface="Calibri" panose="020F0502020204030204" pitchFamily="34" charset="0"/>
                <a:cs typeface="Calibri" panose="020F0502020204030204" pitchFamily="34" charset="0"/>
              </a:rPr>
              <a:t>how would you test or validate race-condition observations between multi-user booking and cancellation?</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Brunswick School - Greenwich Academy: https://wicknet.org/downloads/BWK-GA-Course-Catalog-2025-26.pdf 2025–2026 Academic Catalog - Pepperdine | Seaver College: https://seaver.pepperdine.edu/academics/content/2025-seaver-catalog.pdf Cryptic Chronicles of a Southern GP: https://www.nzdoctor.co.nz/chronicles-southern-dave</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E5528D41-23A2-5FDE-3ABE-8BB8BD1EF04A}"/>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What are the core rules to follow or states to focus when test a race condition in a multi-user book/cancel situation?</a:t>
            </a:r>
          </a:p>
        </p:txBody>
      </p:sp>
      <p:sp>
        <p:nvSpPr>
          <p:cNvPr id="18" name="TextBox 17">
            <a:extLst>
              <a:ext uri="{FF2B5EF4-FFF2-40B4-BE49-F238E27FC236}">
                <a16:creationId xmlns:a16="http://schemas.microsoft.com/office/drawing/2014/main" id="{A753D5B0-1939-E8B5-CE79-65334019C92E}"/>
              </a:ext>
            </a:extLst>
          </p:cNvPr>
          <p:cNvSpPr txBox="1"/>
          <p:nvPr/>
        </p:nvSpPr>
        <p:spPr>
          <a:xfrm>
            <a:off x="5070355" y="846762"/>
            <a:ext cx="4572000" cy="3416320"/>
          </a:xfrm>
          <a:prstGeom prst="rect">
            <a:avLst/>
          </a:prstGeom>
          <a:noFill/>
        </p:spPr>
        <p:txBody>
          <a:bodyPr wrap="square">
            <a:spAutoFit/>
          </a:bodyPr>
          <a:lstStyle/>
          <a:p>
            <a:r>
              <a:rPr lang="en-US" sz="7200" dirty="0"/>
              <a:t>EC-brainstormer-1</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E229A10A-99B5-F35F-680E-507064CC4D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1EF706B4-1D52-143B-E893-428C53F3DF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97A9F246-9B6A-B3EF-6C88-FFCA1C2C1F74}"/>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D74827B-6D48-D4DE-A0C5-9C1327301143}"/>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5272260-180D-953F-056F-86237C092F14}"/>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5264025-268E-86EB-9164-108F00652A91}"/>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3654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0408-AFC2-300D-832A-5B189B09151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541FD2-78A3-15DE-28C2-9590D3B8784C}"/>
              </a:ext>
            </a:extLst>
          </p:cNvPr>
          <p:cNvSpPr/>
          <p:nvPr/>
        </p:nvSpPr>
        <p:spPr>
          <a:xfrm>
            <a:off x="953110" y="741455"/>
            <a:ext cx="2645496" cy="49640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thinking — focusing on reservation creation and cancellation protects remaining slots and active User ID integrity.</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university course registration systems during the open enrollment window, thousands of students try to claim limited seats the moment registration opens. Students (who identify by student ID) compete for scarce seats; the enrollment cutoff and add/drop deadline define a hard time boundary; seat ownership transfers to the student when the system accepts their enrollment. </a:t>
            </a:r>
            <a:r>
              <a:rPr lang="en-US" sz="800" dirty="0">
                <a:solidFill>
                  <a:schemeClr val="accent5">
                    <a:lumMod val="40000"/>
                    <a:lumOff val="60000"/>
                  </a:schemeClr>
                </a:solidFill>
                <a:latin typeface="Calibri" panose="020F0502020204030204" pitchFamily="34" charset="0"/>
                <a:cs typeface="Calibri" panose="020F0502020204030204" pitchFamily="34" charset="0"/>
              </a:rPr>
              <a:t>Administrators and students often see different intermediate states (waitlist vs confirmed), and common failure symptoms are “looks available in my view, but enrollment rejected” or “two students both believe they own the last seat.” Registrars analyze these by checking invariants (enrolled count ≤ capacity), examining ownership transitions across the deadline, and reconciling logs/records to surface where visibility diverged from truth.</a:t>
            </a:r>
          </a:p>
          <a:p>
            <a:endParaRPr lang="en-US" sz="800" dirty="0">
              <a:solidFill>
                <a:schemeClr val="accent5">
                  <a:lumMod val="40000"/>
                  <a:lumOff val="60000"/>
                </a:schemeClr>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solidFill>
                <a:latin typeface="Calibri" panose="020F0502020204030204" pitchFamily="34" charset="0"/>
                <a:cs typeface="Calibri" panose="020F0502020204030204" pitchFamily="34" charset="0"/>
              </a:rPr>
              <a:t>what is the equivalent of the enrollment deadline and seat ownership — specifically the remaining slots and active User ID </a:t>
            </a:r>
            <a:r>
              <a:rPr lang="en-US" sz="800" dirty="0">
                <a:solidFill>
                  <a:schemeClr val="tx1"/>
                </a:solidFill>
                <a:latin typeface="Calibri" panose="020F0502020204030204" pitchFamily="34" charset="0"/>
                <a:cs typeface="Calibri" panose="020F0502020204030204" pitchFamily="34" charset="0"/>
              </a:rPr>
              <a:t>— </a:t>
            </a:r>
            <a:r>
              <a:rPr lang="en-US" sz="800" dirty="0">
                <a:solidFill>
                  <a:schemeClr val="accent4"/>
                </a:solidFill>
                <a:latin typeface="Calibri" panose="020F0502020204030204" pitchFamily="34" charset="0"/>
                <a:cs typeface="Calibri" panose="020F0502020204030204" pitchFamily="34" charset="0"/>
              </a:rPr>
              <a:t>and how would you test </a:t>
            </a:r>
            <a:r>
              <a:rPr lang="en-US" sz="800" dirty="0" err="1">
                <a:solidFill>
                  <a:schemeClr val="accent4"/>
                </a:solidFill>
                <a:latin typeface="Calibri" panose="020F0502020204030204" pitchFamily="34" charset="0"/>
                <a:cs typeface="Calibri" panose="020F0502020204030204" pitchFamily="34" charset="0"/>
              </a:rPr>
              <a:t>racey</a:t>
            </a:r>
            <a:r>
              <a:rPr lang="en-US" sz="800" dirty="0">
                <a:solidFill>
                  <a:schemeClr val="accent4"/>
                </a:solidFill>
                <a:latin typeface="Calibri" panose="020F0502020204030204" pitchFamily="34" charset="0"/>
                <a:cs typeface="Calibri" panose="020F0502020204030204" pitchFamily="34" charset="0"/>
              </a:rPr>
              <a:t> transitions between reservation creation and cancellation?</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What Is a Race Condition? Explained Simply with Real-World ...: https://www.youtube.com/watch?v=XH_KVNGsKpA Brunswick School - Greenwich Academy: https://wicknet.org/downloads/BWK-GA-Course-Catalog-2025-26.pdf booklet | PDF | Academic Degree | Diploma: https://www.scribd.com/document/961298596/booklet CUCET 2026 Question Paper Pattern, syllabus , sample papers: https://collegekampus.com/cucet-question-paper-pattern-syllabus-sample-papers/ Hindustan Times 14-12-2025 | PDF | Delhi: https://www.scribd.com/document/965883808/Hindustan-Times-14-12-2025</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0483999-566E-1B53-8B54-1467BB4A7206}"/>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What are the core rules to follow or states to focus when test a race condition in a multi-user book/cancel situation?</a:t>
            </a:r>
          </a:p>
        </p:txBody>
      </p:sp>
      <p:sp>
        <p:nvSpPr>
          <p:cNvPr id="18" name="TextBox 17">
            <a:extLst>
              <a:ext uri="{FF2B5EF4-FFF2-40B4-BE49-F238E27FC236}">
                <a16:creationId xmlns:a16="http://schemas.microsoft.com/office/drawing/2014/main" id="{069AF115-A223-5495-9EBB-AD46ED22A754}"/>
              </a:ext>
            </a:extLst>
          </p:cNvPr>
          <p:cNvSpPr txBox="1"/>
          <p:nvPr/>
        </p:nvSpPr>
        <p:spPr>
          <a:xfrm>
            <a:off x="5070355" y="846762"/>
            <a:ext cx="4572000" cy="3416320"/>
          </a:xfrm>
          <a:prstGeom prst="rect">
            <a:avLst/>
          </a:prstGeom>
          <a:noFill/>
        </p:spPr>
        <p:txBody>
          <a:bodyPr wrap="square">
            <a:spAutoFit/>
          </a:bodyPr>
          <a:lstStyle/>
          <a:p>
            <a:r>
              <a:rPr lang="en-US" sz="7200" dirty="0"/>
              <a:t>EC-brainstormer-2</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8720A660-8408-E289-BB85-13E44ED2B0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2FC210C2-57F2-5D1C-304D-2EDF2B278A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98DD64EF-7C46-F032-75B7-942B4D1AC537}"/>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900218C-C2F4-3CB1-B050-1D2C177B4A4E}"/>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81C6DAC-E989-3452-E560-59A67BA00A3A}"/>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6EB94205-057B-9F63-9AD5-5E8F0D2D4B45}"/>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2561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203E-A057-60B6-3DB1-0B2F2DBED92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DA6F3D2-5368-75F2-581F-25D8DEB56AEE}"/>
              </a:ext>
            </a:extLst>
          </p:cNvPr>
          <p:cNvSpPr/>
          <p:nvPr/>
        </p:nvSpPr>
        <p:spPr>
          <a:xfrm>
            <a:off x="953110" y="741455"/>
            <a:ext cx="2645496" cy="50783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focus — thinking about reservation/cancellation races and remaining slots with active User IDs matters.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university course registration during enrollment week, students across departments try to claim limited class seats when registration opens. The registrar sets an enrollment window and an add/drop deadline; courses have fixed seat caps and per-student limits, and academic advisors or registrars can manually override enrollments. </a:t>
            </a:r>
            <a:r>
              <a:rPr lang="en-US" sz="800" dirty="0">
                <a:solidFill>
                  <a:schemeClr val="accent5">
                    <a:lumMod val="40000"/>
                    <a:lumOff val="60000"/>
                  </a:schemeClr>
                </a:solidFill>
                <a:latin typeface="Calibri" panose="020F0502020204030204" pitchFamily="34" charset="0"/>
                <a:cs typeface="Calibri" panose="020F0502020204030204" pitchFamily="34" charset="0"/>
              </a:rPr>
              <a:t>Typical symptoms: a student UI shows a seat still “available” while a backend outcome rejects the registration, or two students both appear enrolled for the same seat. Administrators analyze these by checking invariants (seat count vs. enrolled roster, per-student caps), reconciling waitlists against overrides, and tracing ownership transitions across the enrollment window.</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solidFill>
                <a:latin typeface="Calibri" panose="020F0502020204030204" pitchFamily="34" charset="0"/>
                <a:cs typeface="Calibri" panose="020F0502020204030204" pitchFamily="34" charset="0"/>
              </a:rPr>
              <a:t>which elements map to the enrollment window, waitlist/ownership, and per-user limits — specifically which parts correspond to reservation, cancellation, remaining slots, and active User ID </a:t>
            </a:r>
            <a:r>
              <a:rPr lang="en-US" sz="800" dirty="0">
                <a:solidFill>
                  <a:schemeClr val="tx1"/>
                </a:solidFill>
                <a:latin typeface="Calibri" panose="020F0502020204030204" pitchFamily="34" charset="0"/>
                <a:cs typeface="Calibri" panose="020F0502020204030204" pitchFamily="34" charset="0"/>
              </a:rPr>
              <a:t>— and </a:t>
            </a:r>
            <a:r>
              <a:rPr lang="en-US" sz="800" dirty="0">
                <a:solidFill>
                  <a:schemeClr val="accent4"/>
                </a:solidFill>
                <a:latin typeface="Calibri" panose="020F0502020204030204" pitchFamily="34" charset="0"/>
                <a:cs typeface="Calibri" panose="020F0502020204030204" pitchFamily="34" charset="0"/>
              </a:rPr>
              <a:t>how would you test/validate the observable state transitions and ownership when concurrent reservation and cancellation activity occurs?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[PDF] Brunswick School - Greenwich Academy - </a:t>
            </a:r>
            <a:r>
              <a:rPr lang="en-US" sz="800" dirty="0" err="1">
                <a:solidFill>
                  <a:schemeClr val="tx1"/>
                </a:solidFill>
                <a:latin typeface="Calibri" panose="020F0502020204030204" pitchFamily="34" charset="0"/>
                <a:cs typeface="Calibri" panose="020F0502020204030204" pitchFamily="34" charset="0"/>
              </a:rPr>
              <a:t>Wicknet</a:t>
            </a:r>
            <a:r>
              <a:rPr lang="en-US" sz="800" dirty="0">
                <a:solidFill>
                  <a:schemeClr val="tx1"/>
                </a:solidFill>
                <a:latin typeface="Calibri" panose="020F0502020204030204" pitchFamily="34" charset="0"/>
                <a:cs typeface="Calibri" panose="020F0502020204030204" pitchFamily="34" charset="0"/>
              </a:rPr>
              <a:t>: https://wicknet.org/downloads/BWK-GA-Course-Catalog-2025-26.pdf CUCET 2026 Question Paper Pattern, syllabus , sample papers: https://collegekampus.com/cucet-question-paper-pattern-syllabus-sample-papers/ [PDF] APRIL 29–MAY 3, 2026 - Society for American Archaeology: https://www.saa.org/common/Uploaded%20files/saadocs/AnnualMeeting/Preliminary%20Program/SAA%20Annual%20Meeting%20Preliminary%20Program%202026_Final.pdf Indian Express 09-12-2025 | PDF | Interest | Credit - Scribd: https://www.scribd.com/document/963178913/Indian-Express-09-12-2025</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4BEBCD9-951F-7E64-CF18-798C86628A21}"/>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What are the core rules to follow or states to focus when test a race condition in a multi-user book/cancel situation?</a:t>
            </a:r>
          </a:p>
        </p:txBody>
      </p:sp>
      <p:sp>
        <p:nvSpPr>
          <p:cNvPr id="18" name="TextBox 17">
            <a:extLst>
              <a:ext uri="{FF2B5EF4-FFF2-40B4-BE49-F238E27FC236}">
                <a16:creationId xmlns:a16="http://schemas.microsoft.com/office/drawing/2014/main" id="{9AB46D1D-3AE3-17E7-2ECF-EF02BCF88572}"/>
              </a:ext>
            </a:extLst>
          </p:cNvPr>
          <p:cNvSpPr txBox="1"/>
          <p:nvPr/>
        </p:nvSpPr>
        <p:spPr>
          <a:xfrm>
            <a:off x="5070355" y="846762"/>
            <a:ext cx="4572000" cy="3416320"/>
          </a:xfrm>
          <a:prstGeom prst="rect">
            <a:avLst/>
          </a:prstGeom>
          <a:noFill/>
        </p:spPr>
        <p:txBody>
          <a:bodyPr wrap="square">
            <a:spAutoFit/>
          </a:bodyPr>
          <a:lstStyle/>
          <a:p>
            <a:r>
              <a:rPr lang="en-US" sz="7200" dirty="0"/>
              <a:t>EC-brainstormer-3</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2895E57F-5229-DA47-76C7-B26455F0B4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47E8F096-9036-D181-7C38-39D5FA6160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D8C3B116-9FDA-3C18-2938-395BA4AA5C47}"/>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41902C0-8A69-67B5-DD90-A1C9480C43B1}"/>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CE91E88-867B-9B70-A82C-EE2409082EE1}"/>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66A9DBE-072B-E08C-A0A6-EFE6CEE31053}"/>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1639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02825-9BE4-12FD-CF05-BE22E3BD2BE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F62E368-1008-E874-43E2-BF067321BC08}"/>
              </a:ext>
            </a:extLst>
          </p:cNvPr>
          <p:cNvSpPr/>
          <p:nvPr/>
        </p:nvSpPr>
        <p:spPr>
          <a:xfrm>
            <a:off x="953110" y="741455"/>
            <a:ext cx="2645496" cy="36209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thinking—exploring concurrent admin and user edits is crucial for correctness and user trust.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 university course registration system, students and the registrar both touch the same course records during a short registration window (e.g., July 7–15). Courses have strict seat caps (e.g., 30 seats), students identify by student ID, and the registrar can move students off waitlists or increase capacity. Typical symptoms: </a:t>
            </a:r>
            <a:r>
              <a:rPr lang="en-US" sz="800" dirty="0">
                <a:solidFill>
                  <a:schemeClr val="accent5">
                    <a:lumMod val="60000"/>
                    <a:lumOff val="40000"/>
                  </a:schemeClr>
                </a:solidFill>
                <a:latin typeface="Calibri" panose="020F0502020204030204" pitchFamily="34" charset="0"/>
                <a:cs typeface="Calibri" panose="020F0502020204030204" pitchFamily="34" charset="0"/>
              </a:rPr>
              <a:t>a student’s UI shows “1 seat left” but enrollment fails, or two students both think they hold the last seat.</a:t>
            </a:r>
            <a:r>
              <a:rPr lang="en-US" sz="800" dirty="0">
                <a:solidFill>
                  <a:schemeClr val="tx1"/>
                </a:solidFill>
                <a:latin typeface="Calibri" panose="020F0502020204030204" pitchFamily="34" charset="0"/>
                <a:cs typeface="Calibri" panose="020F0502020204030204" pitchFamily="34" charset="0"/>
              </a:rPr>
              <a:t> Teams there analyze issues by asserting invariants (seats = enrolled + available + waitlist), tracing ownership transitions, auditing actions around the cutoff, and exploring race conditions </a:t>
            </a:r>
            <a:r>
              <a:rPr lang="en-US" sz="800" dirty="0">
                <a:solidFill>
                  <a:schemeClr val="accent5">
                    <a:lumMod val="60000"/>
                    <a:lumOff val="40000"/>
                  </a:schemeClr>
                </a:solidFill>
                <a:latin typeface="Calibri" panose="020F0502020204030204" pitchFamily="34" charset="0"/>
                <a:cs typeface="Calibri" panose="020F0502020204030204" pitchFamily="34" charset="0"/>
              </a:rPr>
              <a:t>at the registration boundary rather than immediately prescribing fixes.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solidFill>
                <a:latin typeface="Calibri" panose="020F0502020204030204" pitchFamily="34" charset="0"/>
                <a:cs typeface="Calibri" panose="020F0502020204030204" pitchFamily="34" charset="0"/>
              </a:rPr>
              <a:t>what is the equivalent of the course seat cap and registration window (remaining slots and time boundary), </a:t>
            </a:r>
            <a:r>
              <a:rPr lang="en-US" sz="800" dirty="0">
                <a:solidFill>
                  <a:schemeClr val="tx2">
                    <a:lumMod val="50000"/>
                    <a:lumOff val="50000"/>
                  </a:schemeClr>
                </a:solidFill>
                <a:latin typeface="Calibri" panose="020F0502020204030204" pitchFamily="34" charset="0"/>
                <a:cs typeface="Calibri" panose="020F0502020204030204" pitchFamily="34" charset="0"/>
              </a:rPr>
              <a:t>and how would you test/validate a race condition where an admin and a regular user concurrently edit the same class state and remaining slots?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[PDF] EXAMINATION DATES* : February 7, 8, 14, and 15, 2026 - GATE 2026: https://gate2026.iitg.ac.in/doc/IB/GATE2026-IB-10102025.pdf</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7C4C33FD-0C78-7518-CA0E-240187227F6F}"/>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What consistency concepts can be applied when an admin and a normal user panel edit their panels at the same time?</a:t>
            </a:r>
          </a:p>
        </p:txBody>
      </p:sp>
      <p:sp>
        <p:nvSpPr>
          <p:cNvPr id="18" name="TextBox 17">
            <a:extLst>
              <a:ext uri="{FF2B5EF4-FFF2-40B4-BE49-F238E27FC236}">
                <a16:creationId xmlns:a16="http://schemas.microsoft.com/office/drawing/2014/main" id="{9388A2DD-5017-8BC5-77E0-20F9017BDBF2}"/>
              </a:ext>
            </a:extLst>
          </p:cNvPr>
          <p:cNvSpPr txBox="1"/>
          <p:nvPr/>
        </p:nvSpPr>
        <p:spPr>
          <a:xfrm>
            <a:off x="5070355" y="846762"/>
            <a:ext cx="4572000" cy="3416320"/>
          </a:xfrm>
          <a:prstGeom prst="rect">
            <a:avLst/>
          </a:prstGeom>
          <a:noFill/>
        </p:spPr>
        <p:txBody>
          <a:bodyPr wrap="square">
            <a:spAutoFit/>
          </a:bodyPr>
          <a:lstStyle/>
          <a:p>
            <a:r>
              <a:rPr lang="en-US" sz="7200" dirty="0"/>
              <a:t>EC-brainstormer-4</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7F7BF315-D2E5-AC90-1F2B-E046BB4809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98395FDE-BAFA-3691-C0F7-AB64ACC8C8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79E4A8C0-C1B5-39CC-1777-13B55FC5CE75}"/>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87DBE70-4E21-DF92-2853-48E4AF1FC692}"/>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3A2ACFB-156B-CD3E-D690-8CEA84FE2BA7}"/>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BD787892-9474-2F84-DFEF-1C67E76A6797}"/>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7333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EDFD-D97E-95B2-98E3-E7317E43610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9A77E1D-7192-8267-D580-5344AC00AB53}"/>
              </a:ext>
            </a:extLst>
          </p:cNvPr>
          <p:cNvSpPr/>
          <p:nvPr/>
        </p:nvSpPr>
        <p:spPr>
          <a:xfrm>
            <a:off x="953110" y="741455"/>
            <a:ext cx="2645496" cy="5306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point—testing concurrent admin and user edits of remaining slots and status badges matters.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corporate calendar/meeting-room booking (employees and IT admins trying to schedule rooms for meetings), organizers reserve rooms that have capacity and start/end times, and admins can place holds or override room availability. There’s a hard cutoff around meeting start times and scarce resources (rooms with specific capacities and equipment). Ownership lives with the meeting organizer until an admin overrides. </a:t>
            </a:r>
            <a:r>
              <a:rPr lang="en-US" sz="800" dirty="0">
                <a:solidFill>
                  <a:schemeClr val="accent5">
                    <a:lumMod val="40000"/>
                    <a:lumOff val="60000"/>
                  </a:schemeClr>
                </a:solidFill>
                <a:latin typeface="Calibri" panose="020F0502020204030204" pitchFamily="34" charset="0"/>
                <a:cs typeface="Calibri" panose="020F0502020204030204" pitchFamily="34" charset="0"/>
              </a:rPr>
              <a:t>People often see a room as “available” in their calendar while another actor has a pending hold; the typical symptom is “shows free here, booking rejected there.” Teams analyze it by identifying invariants (one owner per slot), visibility windows, and reconciliation boundaries between views and the authoritative assignment.</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accent6"/>
                </a:solidFill>
                <a:latin typeface="Calibri" panose="020F0502020204030204" pitchFamily="34" charset="0"/>
                <a:cs typeface="Calibri" panose="020F0502020204030204" pitchFamily="34" charset="0"/>
              </a:rPr>
              <a:t>In your system, what is the equivalent (which actor owns the class state and remaining slots/status badge), </a:t>
            </a:r>
            <a:r>
              <a:rPr lang="en-US" sz="800" dirty="0">
                <a:solidFill>
                  <a:schemeClr val="tx1"/>
                </a:solidFill>
                <a:latin typeface="Calibri" panose="020F0502020204030204" pitchFamily="34" charset="0"/>
                <a:cs typeface="Calibri" panose="020F0502020204030204" pitchFamily="34" charset="0"/>
              </a:rPr>
              <a:t>and how </a:t>
            </a:r>
            <a:r>
              <a:rPr lang="en-US" sz="800" dirty="0">
                <a:solidFill>
                  <a:schemeClr val="accent4"/>
                </a:solidFill>
                <a:latin typeface="Calibri" panose="020F0502020204030204" pitchFamily="34" charset="0"/>
                <a:cs typeface="Calibri" panose="020F0502020204030204" pitchFamily="34" charset="0"/>
              </a:rPr>
              <a:t>would you resolve the observable race condition between admin and regular user edits?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Where Is Golgotha, Where Jesus Was Crucified?: https://www.biblicalarchaeology.org/daily/biblical-sites-places/jerusalem/where-is-golgotha-where-jesus-was-crucified/ Jesus and the Cross - Biblical Archaeology Society: https://www.biblicalarchaeology.org/daily/biblical-topics/crucifixion/jesus-and-the-cross/ machine learning - Cross validation Vs. Train Validate Test - Data ...: https://datascience.stackexchange.com/questions/52632/cross-validation-vs-train-validate-test The Enduring Symbolism of Doves - Biblical Archaeology Society: https://www.biblicalarchaeology.org/daily/ancient-cultures/daily-life-and-practice/the-enduring-symbolism-of-doves/ What Were the Crusades and How Did They Impact Jerusalem?: https://www.biblicalarchaeology.org/daily/biblical-sites-places/jerusalem/what-were-the-crusades-and-how-did-they-impact-jerusalem/</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A9B05A8-DDB5-9CA2-9DB5-64BD1DAA6DED}"/>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What consistency concepts can be applied when an admin and a normal user panel edit their panels at the same time?</a:t>
            </a:r>
          </a:p>
        </p:txBody>
      </p:sp>
      <p:sp>
        <p:nvSpPr>
          <p:cNvPr id="18" name="TextBox 17">
            <a:extLst>
              <a:ext uri="{FF2B5EF4-FFF2-40B4-BE49-F238E27FC236}">
                <a16:creationId xmlns:a16="http://schemas.microsoft.com/office/drawing/2014/main" id="{4E57679B-017C-7A45-203E-2BE7241AA14B}"/>
              </a:ext>
            </a:extLst>
          </p:cNvPr>
          <p:cNvSpPr txBox="1"/>
          <p:nvPr/>
        </p:nvSpPr>
        <p:spPr>
          <a:xfrm>
            <a:off x="5070355" y="846762"/>
            <a:ext cx="4572000" cy="3416320"/>
          </a:xfrm>
          <a:prstGeom prst="rect">
            <a:avLst/>
          </a:prstGeom>
          <a:noFill/>
        </p:spPr>
        <p:txBody>
          <a:bodyPr wrap="square">
            <a:spAutoFit/>
          </a:bodyPr>
          <a:lstStyle/>
          <a:p>
            <a:r>
              <a:rPr lang="en-US" sz="7200" dirty="0"/>
              <a:t>EC-brainstormer-5</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B44D5164-AD3B-F06F-FA53-28F9F9ED20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4CEB6AFD-4FA7-861E-AA19-CCB582F18C3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E7B2292F-2FBB-88C2-813F-D93E91FD7CBA}"/>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3972DF4-BC7E-FB69-9BD0-7F3239945914}"/>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C4788BD-BEB9-6EE3-FD40-D576A8C4AE04}"/>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A075A51-51F1-BE80-81BB-9D5695E6E3DA}"/>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7617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97014-0AA3-E319-B23D-71CCF07876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F4E6510-4F3D-C728-2312-49C0FB5AB9DE}"/>
              </a:ext>
            </a:extLst>
          </p:cNvPr>
          <p:cNvSpPr/>
          <p:nvPr/>
        </p:nvSpPr>
        <p:spPr>
          <a:xfrm>
            <a:off x="953110" y="741455"/>
            <a:ext cx="2645496" cy="5306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2"/>
                </a:solidFill>
                <a:latin typeface="Calibri" panose="020F0502020204030204" pitchFamily="34" charset="0"/>
                <a:cs typeface="Calibri" panose="020F0502020204030204" pitchFamily="34" charset="0"/>
              </a:rPr>
              <a:t>Good thinking — exploring concurrent admin panel and regular user panel edits against in-memory data is crucial.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Here’s a real example: in a university course registration system during the week when enrollment opens, students and registrar staff both act on the same course listings. Students try to claim scarce course seats before the add/drop cutoff; registrars can also edit capacities, move students, or override enrollment statuses. Each seat is owned by a student once enrolled; the registrar view can override that ownership. </a:t>
            </a:r>
            <a:r>
              <a:rPr lang="en-US" sz="800" dirty="0">
                <a:solidFill>
                  <a:schemeClr val="accent5">
                    <a:lumMod val="60000"/>
                    <a:lumOff val="40000"/>
                  </a:schemeClr>
                </a:solidFill>
                <a:latin typeface="Calibri" panose="020F0502020204030204" pitchFamily="34" charset="0"/>
                <a:cs typeface="Calibri" panose="020F0502020204030204" pitchFamily="34" charset="0"/>
              </a:rPr>
              <a:t>Typical failures read like contradictions: a seat looks available in the student portal but enrollment is rejected, or a student sees a confirmed seat that later disappears after an admin change. Analysts there focus on invariants (enrolled count vs capacity), time-bounded windows (enrollment open/close, add/drop deadlines), ownership transitions (student-owned vs admin-overridden), and reconciliation logs to explain observed discrepancies.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In your system, </a:t>
            </a:r>
            <a:r>
              <a:rPr lang="en-US" sz="800" dirty="0">
                <a:solidFill>
                  <a:schemeClr val="accent6"/>
                </a:solidFill>
                <a:latin typeface="Calibri" panose="020F0502020204030204" pitchFamily="34" charset="0"/>
                <a:cs typeface="Calibri" panose="020F0502020204030204" pitchFamily="34" charset="0"/>
              </a:rPr>
              <a:t>what is the equivalent of the registrar/student portals — the admin panel and regular user panel concurrently editing class remaining slots and reservation ownership </a:t>
            </a:r>
            <a:r>
              <a:rPr lang="en-US" sz="800" dirty="0">
                <a:solidFill>
                  <a:schemeClr val="tx1"/>
                </a:solidFill>
                <a:latin typeface="Calibri" panose="020F0502020204030204" pitchFamily="34" charset="0"/>
                <a:cs typeface="Calibri" panose="020F0502020204030204" pitchFamily="34" charset="0"/>
              </a:rPr>
              <a:t>— </a:t>
            </a:r>
            <a:r>
              <a:rPr lang="en-US" sz="800" dirty="0">
                <a:solidFill>
                  <a:schemeClr val="accent4"/>
                </a:solidFill>
                <a:latin typeface="Calibri" panose="020F0502020204030204" pitchFamily="34" charset="0"/>
                <a:cs typeface="Calibri" panose="020F0502020204030204" pitchFamily="34" charset="0"/>
              </a:rPr>
              <a:t>and how would you test/validate/resolve any observable state/race-condition discrepancies?</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Creative Fuel:</a:t>
            </a:r>
          </a:p>
          <a:p>
            <a:endParaRPr lang="en-US" sz="800" dirty="0">
              <a:solidFill>
                <a:schemeClr val="tx1"/>
              </a:solidFill>
              <a:latin typeface="Calibri" panose="020F0502020204030204" pitchFamily="34" charset="0"/>
              <a:cs typeface="Calibri" panose="020F0502020204030204" pitchFamily="34" charset="0"/>
            </a:endParaRPr>
          </a:p>
          <a:p>
            <a:r>
              <a:rPr lang="en-US" sz="800" dirty="0">
                <a:solidFill>
                  <a:schemeClr val="tx1"/>
                </a:solidFill>
                <a:latin typeface="Calibri" panose="020F0502020204030204" pitchFamily="34" charset="0"/>
                <a:cs typeface="Calibri" panose="020F0502020204030204" pitchFamily="34" charset="0"/>
              </a:rPr>
              <a:t>2025 – 2026 Academy Course Listing by Punahou School: https://issuu.com/punahouschool/docs/academy_course_listing_2025-2026/80 Annual Report - 2022-2023: https://www.iitmandi.ac.in/administration/annual_reports/annual_report2023english.pdf Hindustan Times 14-12-2025 | PDF | Delhi: https://www.scribd.com/document/965883808/Hindustan-Times-14-12-2025 CUCET 2026 Question Paper Pattern, syllabus , sample papers: https://collegekampus.com/cucet-question-paper-pattern-syllabus-sample-papers/ Brunswick School - Greenwich Academy: https://wicknet.org/downloads/BWK-GA-Course-Catalog-2025-26.pdf</a:t>
            </a:r>
            <a:endParaRPr lang="en-GB" sz="800" dirty="0">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8D2D2946-D1D1-EC61-ABDC-662806104C63}"/>
              </a:ext>
            </a:extLst>
          </p:cNvPr>
          <p:cNvSpPr/>
          <p:nvPr/>
        </p:nvSpPr>
        <p:spPr>
          <a:xfrm>
            <a:off x="953656" y="273051"/>
            <a:ext cx="2644950" cy="46779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@Brainstormer What consistency concepts can be applied when an admin and a normal user panel edit their panels at the same time?</a:t>
            </a:r>
          </a:p>
        </p:txBody>
      </p:sp>
      <p:sp>
        <p:nvSpPr>
          <p:cNvPr id="18" name="TextBox 17">
            <a:extLst>
              <a:ext uri="{FF2B5EF4-FFF2-40B4-BE49-F238E27FC236}">
                <a16:creationId xmlns:a16="http://schemas.microsoft.com/office/drawing/2014/main" id="{E33DA79E-E7A7-F3C9-D881-E8E621FEA34B}"/>
              </a:ext>
            </a:extLst>
          </p:cNvPr>
          <p:cNvSpPr txBox="1"/>
          <p:nvPr/>
        </p:nvSpPr>
        <p:spPr>
          <a:xfrm>
            <a:off x="5070355" y="846762"/>
            <a:ext cx="4572000" cy="3416320"/>
          </a:xfrm>
          <a:prstGeom prst="rect">
            <a:avLst/>
          </a:prstGeom>
          <a:noFill/>
        </p:spPr>
        <p:txBody>
          <a:bodyPr wrap="square">
            <a:spAutoFit/>
          </a:bodyPr>
          <a:lstStyle/>
          <a:p>
            <a:r>
              <a:rPr lang="en-US" sz="7200" dirty="0"/>
              <a:t>EC-brainstormer-6</a:t>
            </a:r>
            <a:endParaRPr lang="en-US" sz="7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descr="Robot with solid fill">
            <a:extLst>
              <a:ext uri="{FF2B5EF4-FFF2-40B4-BE49-F238E27FC236}">
                <a16:creationId xmlns:a16="http://schemas.microsoft.com/office/drawing/2014/main" id="{DFA06EE0-A3B7-DF56-BAA5-C16D0FDB40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915" y="741449"/>
            <a:ext cx="231730" cy="210626"/>
          </a:xfrm>
          <a:prstGeom prst="rect">
            <a:avLst/>
          </a:prstGeom>
        </p:spPr>
      </p:pic>
      <p:pic>
        <p:nvPicPr>
          <p:cNvPr id="3" name="Graphic 2" descr="Programmer female with solid fill">
            <a:extLst>
              <a:ext uri="{FF2B5EF4-FFF2-40B4-BE49-F238E27FC236}">
                <a16:creationId xmlns:a16="http://schemas.microsoft.com/office/drawing/2014/main" id="{C1D29E87-A0A4-CBF7-7536-B6E44806B8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915" y="273237"/>
            <a:ext cx="201356" cy="210598"/>
          </a:xfrm>
          <a:prstGeom prst="rect">
            <a:avLst/>
          </a:prstGeom>
        </p:spPr>
      </p:pic>
      <p:sp>
        <p:nvSpPr>
          <p:cNvPr id="4" name="TextBox 3">
            <a:extLst>
              <a:ext uri="{FF2B5EF4-FFF2-40B4-BE49-F238E27FC236}">
                <a16:creationId xmlns:a16="http://schemas.microsoft.com/office/drawing/2014/main" id="{D4CC89FA-DA60-F883-2E9A-00587919EC32}"/>
              </a:ext>
            </a:extLst>
          </p:cNvPr>
          <p:cNvSpPr txBox="1"/>
          <p:nvPr/>
        </p:nvSpPr>
        <p:spPr>
          <a:xfrm>
            <a:off x="3768344" y="5034231"/>
            <a:ext cx="1471748" cy="215444"/>
          </a:xfrm>
          <a:prstGeom prst="rect">
            <a:avLst/>
          </a:prstGeom>
          <a:noFill/>
          <a:ln w="12700">
            <a:noFill/>
            <a:prstDash val="dash"/>
          </a:ln>
        </p:spPr>
        <p:txBody>
          <a:bodyPr wrap="square" rtlCol="0">
            <a:spAutoFit/>
          </a:bodyPr>
          <a:lstStyle/>
          <a:p>
            <a:r>
              <a:rPr lang="en-GB" sz="800" dirty="0">
                <a:solidFill>
                  <a:schemeClr val="accent4"/>
                </a:solidFill>
                <a:latin typeface="Calibri" panose="020F0502020204030204" pitchFamily="34" charset="0"/>
                <a:cs typeface="Calibri" panose="020F0502020204030204" pitchFamily="34" charset="0"/>
              </a:rPr>
              <a:t>Exploration-driving Question</a:t>
            </a:r>
            <a:endParaRPr lang="en-SE" sz="800" dirty="0">
              <a:solidFill>
                <a:schemeClr val="accent4"/>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A9982F2-C0E5-A77E-AA88-5083C942296B}"/>
              </a:ext>
            </a:extLst>
          </p:cNvPr>
          <p:cNvSpPr txBox="1"/>
          <p:nvPr/>
        </p:nvSpPr>
        <p:spPr>
          <a:xfrm>
            <a:off x="3768344" y="4512280"/>
            <a:ext cx="1344031" cy="215444"/>
          </a:xfrm>
          <a:prstGeom prst="rect">
            <a:avLst/>
          </a:prstGeom>
          <a:noFill/>
          <a:ln w="12700">
            <a:noFill/>
            <a:prstDash val="dash"/>
          </a:ln>
        </p:spPr>
        <p:txBody>
          <a:bodyPr wrap="square">
            <a:spAutoFit/>
          </a:bodyPr>
          <a:lstStyle/>
          <a:p>
            <a:r>
              <a:rPr lang="en-GB" sz="800" dirty="0">
                <a:solidFill>
                  <a:schemeClr val="accent2"/>
                </a:solidFill>
                <a:latin typeface="Calibri" panose="020F0502020204030204" pitchFamily="34" charset="0"/>
                <a:cs typeface="Calibri" panose="020F0502020204030204" pitchFamily="34" charset="0"/>
              </a:rPr>
              <a:t>Affirmation</a:t>
            </a:r>
            <a:endParaRPr lang="en-SE" sz="800" dirty="0">
              <a:solidFill>
                <a:schemeClr val="accent2"/>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94ED4D1-F2E4-3572-805D-9B7867D14D8A}"/>
              </a:ext>
            </a:extLst>
          </p:cNvPr>
          <p:cNvSpPr txBox="1"/>
          <p:nvPr/>
        </p:nvSpPr>
        <p:spPr>
          <a:xfrm>
            <a:off x="3768345" y="4782807"/>
            <a:ext cx="1344030" cy="215444"/>
          </a:xfrm>
          <a:prstGeom prst="rect">
            <a:avLst/>
          </a:prstGeom>
          <a:noFill/>
          <a:ln w="12700">
            <a:noFill/>
            <a:prstDash val="dash"/>
          </a:ln>
        </p:spPr>
        <p:txBody>
          <a:bodyPr wrap="square" rtlCol="0">
            <a:spAutoFit/>
          </a:bodyPr>
          <a:lstStyle/>
          <a:p>
            <a:r>
              <a:rPr lang="en-GB" sz="800" dirty="0">
                <a:solidFill>
                  <a:schemeClr val="accent5">
                    <a:lumMod val="40000"/>
                    <a:lumOff val="60000"/>
                  </a:schemeClr>
                </a:solidFill>
                <a:latin typeface="Calibri" panose="020F0502020204030204" pitchFamily="34" charset="0"/>
                <a:cs typeface="Calibri" panose="020F0502020204030204" pitchFamily="34" charset="0"/>
              </a:rPr>
              <a:t>Cross-domain Association</a:t>
            </a:r>
            <a:endParaRPr lang="en-SE" sz="800" dirty="0">
              <a:solidFill>
                <a:schemeClr val="accent5">
                  <a:lumMod val="40000"/>
                  <a:lumOff val="6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6F014A61-A9F9-28D5-7B45-2C4CFC514543}"/>
              </a:ext>
            </a:extLst>
          </p:cNvPr>
          <p:cNvSpPr txBox="1"/>
          <p:nvPr/>
        </p:nvSpPr>
        <p:spPr>
          <a:xfrm>
            <a:off x="3768344" y="5285655"/>
            <a:ext cx="2177993" cy="215444"/>
          </a:xfrm>
          <a:prstGeom prst="rect">
            <a:avLst/>
          </a:prstGeom>
          <a:noFill/>
          <a:ln w="12700">
            <a:noFill/>
            <a:prstDash val="dash"/>
          </a:ln>
        </p:spPr>
        <p:txBody>
          <a:bodyPr wrap="square" rtlCol="0">
            <a:spAutoFit/>
          </a:bodyPr>
          <a:lstStyle/>
          <a:p>
            <a:r>
              <a:rPr lang="en-GB" sz="800" dirty="0">
                <a:solidFill>
                  <a:schemeClr val="accent6">
                    <a:lumMod val="75000"/>
                  </a:schemeClr>
                </a:solidFill>
                <a:latin typeface="Calibri" panose="020F0502020204030204" pitchFamily="34" charset="0"/>
                <a:cs typeface="Calibri" panose="020F0502020204030204" pitchFamily="34" charset="0"/>
              </a:rPr>
              <a:t>Hint-style Guidance (based on Association)</a:t>
            </a:r>
            <a:endParaRPr lang="en-SE" sz="800" dirty="0">
              <a:solidFill>
                <a:schemeClr val="accent6">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6575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1866</TotalTime>
  <Words>13028</Words>
  <Application>Microsoft Macintosh PowerPoint</Application>
  <PresentationFormat>Widescreen</PresentationFormat>
  <Paragraphs>953</Paragraphs>
  <Slides>32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-apple-system</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Zhuangzhuang Gong</dc:creator>
  <cp:lastModifiedBy>Zhuangzhuang Gong</cp:lastModifiedBy>
  <cp:revision>7</cp:revision>
  <dcterms:created xsi:type="dcterms:W3CDTF">2026-01-19T08:12:53Z</dcterms:created>
  <dcterms:modified xsi:type="dcterms:W3CDTF">2026-01-22T14:46:21Z</dcterms:modified>
</cp:coreProperties>
</file>